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10_D56EF72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72" r:id="rId10"/>
    <p:sldId id="274" r:id="rId11"/>
    <p:sldId id="268" r:id="rId12"/>
    <p:sldId id="267" r:id="rId13"/>
    <p:sldId id="273" r:id="rId14"/>
    <p:sldId id="270" r:id="rId15"/>
    <p:sldId id="269" r:id="rId16"/>
  </p:sldIdLst>
  <p:sldSz cx="12192000" cy="6858000"/>
  <p:notesSz cx="6858000" cy="9144000"/>
  <p:embeddedFontLst>
    <p:embeddedFont>
      <p:font typeface="Fira Code" panose="020B0809050000020004" pitchFamily="49" charset="0"/>
      <p:regular r:id="rId18"/>
      <p:bold r:id="rId19"/>
    </p:embeddedFont>
    <p:embeddedFont>
      <p:font typeface="Lato" panose="020F0502020204030203" pitchFamily="34" charset="0"/>
      <p:regular r:id="rId20"/>
      <p:bold r:id="rId21"/>
      <p:italic r:id="rId22"/>
      <p:boldItalic r:id="rId23"/>
    </p:embeddedFont>
    <p:embeddedFont>
      <p:font typeface="Raleway" pitchFamily="2" charset="0"/>
      <p:regular r:id="rId24"/>
      <p:bold r:id="rId25"/>
      <p:italic r:id="rId26"/>
      <p:boldItalic r:id="rId27"/>
    </p:embeddedFont>
    <p:embeddedFont>
      <p:font typeface="Rubik" panose="020B0604020202020204" charset="-79"/>
      <p:regular r:id="rId28"/>
      <p:bold r:id="rId29"/>
      <p:italic r:id="rId30"/>
      <p:boldItalic r:id="rId31"/>
    </p:embeddedFont>
    <p:embeddedFont>
      <p:font typeface="Rubik SemiBold" panose="020B0604020202020204" charset="-79"/>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EFA8F-64D6-7A55-C3D7-11523E563D88}" name="Shai Sadeh" initials="SS" userId="S::ShaiSa@jdc.org::c9bc93f3-6056-428e-9b0f-cefefcb259dc" providerId="AD"/>
  <p188:author id="{1FBA2B97-08BF-3AB9-6AF8-FABC460FE79F}" name="דניאל סלירוסס" initials="דס" userId="S::danielsalirosas@office.eduil.org::3bc467c4-610a-4593-bad4-95564c1302a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0"/>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564" autoAdjust="0"/>
  </p:normalViewPr>
  <p:slideViewPr>
    <p:cSldViewPr snapToGrid="0">
      <p:cViewPr varScale="1">
        <p:scale>
          <a:sx n="70" d="100"/>
          <a:sy n="70" d="100"/>
        </p:scale>
        <p:origin x="240"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s>
</file>

<file path=ppt/comments/modernComment_104_0.xml><?xml version="1.0" encoding="utf-8"?>
<p188:cmLst xmlns:a="http://schemas.openxmlformats.org/drawingml/2006/main" xmlns:r="http://schemas.openxmlformats.org/officeDocument/2006/relationships" xmlns:p188="http://schemas.microsoft.com/office/powerpoint/2018/8/main">
  <p188:cm id="{D40ED145-54E7-4537-A7FA-BA32D3800E3E}" authorId="{0CBEFA8F-64D6-7A55-C3D7-11523E563D88}" created="2026-07-23T10:26:37.316">
    <ac:txMkLst xmlns:ac="http://schemas.microsoft.com/office/drawing/2013/main/command">
      <pc:docMk xmlns:pc="http://schemas.microsoft.com/office/powerpoint/2013/main/command"/>
      <pc:sldMk xmlns:pc="http://schemas.microsoft.com/office/powerpoint/2013/main/command" cId="0" sldId="260"/>
      <ac:spMk id="9" creationId="{FD77D843-14DB-D460-5BAE-3352062FF736}"/>
      <ac:txMk cp="180">
        <ac:context len="181" hash="3870385855"/>
      </ac:txMk>
    </ac:txMkLst>
    <p188:pos x="2665210" y="1056528"/>
    <p188:txBody>
      <a:bodyPr/>
      <a:lstStyle/>
      <a:p>
        <a:r>
          <a:rPr lang="he-IL"/>
          <a:t>לא הייתי מדבר על סוגי המשתנים אלא יותר על הסקר עצמו שמורכב מהמון שאלות, וכל שנה יש דגש על נושא אחר וכו'</a:t>
        </a:r>
      </a:p>
    </p188:txBody>
  </p188:cm>
</p188:cmLst>
</file>

<file path=ppt/comments/modernComment_110_D56EF72D.xml><?xml version="1.0" encoding="utf-8"?>
<p188:cmLst xmlns:a="http://schemas.openxmlformats.org/drawingml/2006/main" xmlns:r="http://schemas.openxmlformats.org/officeDocument/2006/relationships" xmlns:p188="http://schemas.microsoft.com/office/powerpoint/2018/8/main">
  <p188:cm id="{AF386851-E34C-47D0-A971-B137B469FD10}" authorId="{1FBA2B97-08BF-3AB9-6AF8-FABC460FE79F}" created="2026-07-23T07:03:31.305">
    <ac:deMkLst xmlns:ac="http://schemas.microsoft.com/office/drawing/2013/main/command">
      <pc:docMk xmlns:pc="http://schemas.microsoft.com/office/powerpoint/2013/main/command"/>
      <pc:sldMk xmlns:pc="http://schemas.microsoft.com/office/powerpoint/2013/main/command" cId="3580819245" sldId="272"/>
      <ac:spMk id="11" creationId="{BD6BA6F2-6E20-6AE1-A09F-D5E221870B36}"/>
    </ac:deMkLst>
    <p188:txBody>
      <a:bodyPr/>
      <a:lstStyle/>
      <a:p>
        <a:r>
          <a:rPr lang="en-IL"/>
          <a:t>מה עשינו? (המתודולוגיה)
פיתוח מערכת Risk Scoring: בנינו מודל היברידי המשלב למידה מונחת (Gradient Boosting) עם למידה לא-מונחת (GMM) לניבוי פגיעות פיננסית
.
ניתוח נתוני עתק: המערכת התבססה על מדגם מייצג של 6,907 משיבים מתוך הסקר החברתי של הלמ"ס 2024, תוך עיבוד של עשרות משתנים דמוגרפיים והתנהגותיים
.
יצירת מדד מטרה מהימן: הגדרנו משתנה מטרה המבוסס על הצטברות של 8 אינדיקטורים למצוקה כלכלית, המזהה כ-23% מהאוכלוסייה כנמצאים בסיכון
.
הטמעת שקיפות (XAI): שילבנו את רכיב ה-SHAP כדי "לפתוח את הקופסה השחורה" ולספק הסבר אתי ומדויק לכל ציון סיכון שמופק</a:t>
        </a:r>
      </a:p>
    </p188:txBody>
  </p188:cm>
  <p188:cm id="{CE6F7709-CFB9-4275-8BCA-5FD743BF2AD6}" authorId="{1FBA2B97-08BF-3AB9-6AF8-FABC460FE79F}" created="2026-07-23T07:05:33.424">
    <pc:sldMkLst xmlns:pc="http://schemas.microsoft.com/office/powerpoint/2013/main/command">
      <pc:docMk/>
      <pc:sldMk cId="3580819245" sldId="272"/>
    </pc:sldMkLst>
    <p188:txBody>
      <a:bodyPr/>
      <a:lstStyle/>
      <a:p>
        <a:r>
          <a:rPr lang="en-IL"/>
          <a:t>למה זה חשוב? (הערך העסקי והחברתי)
מניעה פרו-אקטיבית: מעבר מזיהוי "בדיעבד" של קריסה כלכלית (כמו פשיטת רגל) לחיזוי מוקדם של "נורות אזהרה שקטות"
.
ייעול משאבים (High ROI): המערכת מאפשרת לגופים ממשלתיים ופיננסיים לבצע "צליפה ממוקדת" אל עבר משקי הבית שבסיכון אמיתי, ובכך למקסם את השפעת תקציבי הסיוע
.
קבלת החלטות אתית: היכולת להסביר את החלטת המודל מבטיחה עמידה ברגולציות (כמו ה-EU AI Act) ובניית אמון מול המשתמש</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L"/>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f562154131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endParaRPr dirty="0"/>
          </a:p>
        </p:txBody>
      </p:sp>
      <p:sp>
        <p:nvSpPr>
          <p:cNvPr id="111" name="Google Shape;111;g3f562154131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57b3c638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g3f57b3c638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f57b3c638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g3f57b3c638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57b3c638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3f57b3c638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f57b3c638f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דאטה איכותי ומייצג: שימוש בנתונים אותנטיים של </a:t>
            </a:r>
            <a:r>
              <a:rPr lang="he-IL" dirty="0" err="1">
                <a:solidFill>
                  <a:schemeClr val="lt1"/>
                </a:solidFill>
                <a:latin typeface="Rubik" panose="020B0604020202020204" charset="-79"/>
                <a:cs typeface="Rubik" panose="020B0604020202020204" charset="-79"/>
              </a:rPr>
              <a:t>הלמ"ס</a:t>
            </a:r>
            <a:r>
              <a:rPr lang="he-IL" dirty="0">
                <a:solidFill>
                  <a:schemeClr val="lt1"/>
                </a:solidFill>
                <a:latin typeface="Rubik" panose="020B0604020202020204" charset="-79"/>
                <a:cs typeface="Rubik" panose="020B0604020202020204" charset="-79"/>
              </a:rPr>
              <a:t> (סקר חברתי 2024), הכוללים מדגם רחב של 6,907 משיבים המייצגים נאמנה את האוכלוסייה בישראל.</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בניית משתנה המטרה: בניית מדד "פגיעות פיננסית" מבוסס על 8 אינדיקטורים שונים, כאשר </a:t>
            </a:r>
            <a:r>
              <a:rPr lang="he-IL" dirty="0" err="1">
                <a:solidFill>
                  <a:schemeClr val="lt1"/>
                </a:solidFill>
                <a:latin typeface="Rubik" panose="020B0604020202020204" charset="-79"/>
                <a:cs typeface="Rubik" panose="020B0604020202020204" charset="-79"/>
              </a:rPr>
              <a:t>ללמעלה</a:t>
            </a:r>
            <a:r>
              <a:rPr lang="he-IL" dirty="0">
                <a:solidFill>
                  <a:schemeClr val="lt1"/>
                </a:solidFill>
                <a:latin typeface="Rubik" panose="020B0604020202020204" charset="-79"/>
                <a:cs typeface="Rubik" panose="020B0604020202020204" charset="-79"/>
              </a:rPr>
              <a:t> מ-94% מהמשיבים יש מידע מלא, מה שמבטיח בסיס סטטיסטי איתן לניבוי.</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מודל היברידי משופר: שילוב של </a:t>
            </a:r>
            <a:r>
              <a:rPr lang="en-US" dirty="0">
                <a:solidFill>
                  <a:schemeClr val="lt1"/>
                </a:solidFill>
                <a:latin typeface="Rubik" panose="020B0604020202020204" charset="-79"/>
                <a:cs typeface="Rubik" panose="020B0604020202020204" charset="-79"/>
              </a:rPr>
              <a:t>Gradient Boosting</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עם מאפיינים מרחביים שהופקו מ-</a:t>
            </a:r>
            <a:r>
              <a:rPr lang="en-US" dirty="0">
                <a:solidFill>
                  <a:schemeClr val="lt1"/>
                </a:solidFill>
                <a:latin typeface="Rubik" panose="020B0604020202020204" charset="-79"/>
                <a:cs typeface="Rubik" panose="020B0604020202020204" charset="-79"/>
              </a:rPr>
              <a:t>GMM</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שיפר את יכולת ההפרדה של המודל (עלייה ב-</a:t>
            </a:r>
            <a:r>
              <a:rPr lang="en-US" dirty="0">
                <a:solidFill>
                  <a:schemeClr val="lt1"/>
                </a:solidFill>
                <a:latin typeface="Rubik" panose="020B0604020202020204" charset="-79"/>
                <a:cs typeface="Rubik" panose="020B0604020202020204" charset="-79"/>
              </a:rPr>
              <a:t>ROC AUC </a:t>
            </a:r>
            <a:r>
              <a:rPr lang="he-IL" dirty="0">
                <a:solidFill>
                  <a:schemeClr val="lt1"/>
                </a:solidFill>
                <a:latin typeface="Rubik" panose="020B0604020202020204" charset="-79"/>
                <a:cs typeface="Rubik" panose="020B0604020202020204" charset="-79"/>
              </a:rPr>
              <a:t>ל-0.8665).</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שקיפות </a:t>
            </a:r>
            <a:r>
              <a:rPr lang="he-IL" dirty="0" err="1">
                <a:solidFill>
                  <a:schemeClr val="lt1"/>
                </a:solidFill>
                <a:latin typeface="Rubik" panose="020B0604020202020204" charset="-79"/>
                <a:cs typeface="Rubik" panose="020B0604020202020204" charset="-79"/>
              </a:rPr>
              <a:t>והסבריות</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XAI</a:t>
            </a:r>
            <a:r>
              <a:rPr lang="he-IL" dirty="0">
                <a:solidFill>
                  <a:schemeClr val="lt1"/>
                </a:solidFill>
                <a:latin typeface="Rubik" panose="020B0604020202020204" charset="-79"/>
                <a:cs typeface="Rubik" panose="020B0604020202020204" charset="-79"/>
              </a:rPr>
              <a:t>): השימוש ב-</a:t>
            </a:r>
            <a:r>
              <a:rPr lang="en-US" dirty="0">
                <a:solidFill>
                  <a:schemeClr val="lt1"/>
                </a:solidFill>
                <a:latin typeface="Rubik" panose="020B0604020202020204" charset="-79"/>
                <a:cs typeface="Rubik" panose="020B0604020202020204" charset="-79"/>
              </a:rPr>
              <a:t>SHAP </a:t>
            </a:r>
            <a:r>
              <a:rPr lang="he-IL" dirty="0">
                <a:solidFill>
                  <a:schemeClr val="lt1"/>
                </a:solidFill>
                <a:latin typeface="Rubik" panose="020B0604020202020204" charset="-79"/>
                <a:cs typeface="Rubik" panose="020B0604020202020204" charset="-79"/>
              </a:rPr>
              <a:t> מאפשר "לפתוח את הקופסה השחורה" ולהסביר לבעלי עניין בדיוק אילו מאפיינים (כמו היעדר השקעות בנקאיות או גיל) השפיעו על ציון הסיכון.</a:t>
            </a:r>
          </a:p>
          <a:p>
            <a:pPr marL="342900" indent="-342900" algn="r" rtl="1">
              <a:buClr>
                <a:schemeClr val="bg1"/>
              </a:buClr>
              <a:buFont typeface="Arial" panose="020B0604020202020204" pitchFamily="34" charset="0"/>
              <a:buChar char="•"/>
            </a:pPr>
            <a:endParaRPr lang="he-IL" dirty="0">
              <a:solidFill>
                <a:schemeClr val="lt1"/>
              </a:solidFill>
              <a:latin typeface="Rubik" panose="020B0604020202020204" charset="-79"/>
              <a:cs typeface="Rubik" panose="020B0604020202020204" charset="-79"/>
            </a:endParaRP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ערכים חסרים מבניים: קיימים ערכים חסרים הנובעים מ"דילוגים" מובנים בשאלון (למשל שאלות המיועדות רק לשכירים או לעולים), מה שמחייב טיפול זהיר שאינו מבוסס על ממוצע פשוט שעלול להטות את התוצאות.</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היעדר "תוויות אמת" חיצוניות: המודל מתבסס על דיווח עצמי בסקר ולא על נתוני בנקים או הונאות מאומתות, ולכן הוא מזהה "חריגים סטטיסטיים" ולא בהכרח פגיעות פיננסית ודאית במציאות.</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רגישות להיפר-פרמטרים: מודלים מתקדמים כמו </a:t>
            </a:r>
            <a:r>
              <a:rPr lang="en-US" dirty="0" err="1">
                <a:solidFill>
                  <a:schemeClr val="lt1"/>
                </a:solidFill>
                <a:latin typeface="Rubik" panose="020B0604020202020204" charset="-79"/>
                <a:cs typeface="Rubik" panose="020B0604020202020204" charset="-79"/>
              </a:rPr>
              <a:t>LightGBM</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 ו-</a:t>
            </a:r>
            <a:r>
              <a:rPr lang="en-US" dirty="0">
                <a:solidFill>
                  <a:schemeClr val="lt1"/>
                </a:solidFill>
                <a:latin typeface="Rubik" panose="020B0604020202020204" charset="-79"/>
                <a:cs typeface="Rubik" panose="020B0604020202020204" charset="-79"/>
              </a:rPr>
              <a:t>SVM</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דורשים כיול עדין ו-</a:t>
            </a:r>
            <a:r>
              <a:rPr lang="en-US" dirty="0">
                <a:solidFill>
                  <a:schemeClr val="lt1"/>
                </a:solidFill>
                <a:latin typeface="Rubik" panose="020B0604020202020204" charset="-79"/>
                <a:cs typeface="Rubik" panose="020B0604020202020204" charset="-79"/>
              </a:rPr>
              <a:t>Scaling</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חובה, ושינוי קטן בפרמטרים עלול להוביל ל-</a:t>
            </a:r>
            <a:r>
              <a:rPr lang="en-US" dirty="0">
                <a:solidFill>
                  <a:schemeClr val="lt1"/>
                </a:solidFill>
                <a:latin typeface="Rubik" panose="020B0604020202020204" charset="-79"/>
                <a:cs typeface="Rubik" panose="020B0604020202020204" charset="-79"/>
              </a:rPr>
              <a:t>Overfitting</a:t>
            </a:r>
            <a:r>
              <a:rPr lang="he-IL" dirty="0">
                <a:solidFill>
                  <a:schemeClr val="lt1"/>
                </a:solidFill>
                <a:latin typeface="Rubik" panose="020B0604020202020204" charset="-79"/>
                <a:cs typeface="Rubik" panose="020B0604020202020204" charset="-79"/>
              </a:rPr>
              <a:t> (שינון רעש במקום לימוד המגמה).</a:t>
            </a:r>
          </a:p>
          <a:p>
            <a:pPr marL="342900" indent="-342900" algn="r" rtl="1">
              <a:buClr>
                <a:schemeClr val="bg1"/>
              </a:buClr>
              <a:buFont typeface="Arial" panose="020B0604020202020204" pitchFamily="34" charset="0"/>
              <a:buChar char="•"/>
            </a:pPr>
            <a:endParaRPr lang="he-IL" dirty="0">
              <a:solidFill>
                <a:schemeClr val="lt1"/>
              </a:solidFill>
              <a:latin typeface="Rubik" panose="020B0604020202020204" charset="-79"/>
              <a:cs typeface="Rubik" panose="020B0604020202020204" charset="-79"/>
            </a:endParaRP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מעבר להסקה בזמן אמת: הפיכת המודל למערכת שמאפשרת למשתמש להזין נתונים בטופס ולקבל ציון סיכון והסבר</a:t>
            </a:r>
            <a:r>
              <a:rPr lang="en-US" dirty="0">
                <a:solidFill>
                  <a:schemeClr val="lt1"/>
                </a:solidFill>
                <a:latin typeface="Rubik" panose="020B0604020202020204" charset="-79"/>
                <a:cs typeface="Rubik" panose="020B0604020202020204" charset="-79"/>
              </a:rPr>
              <a:t> SHAP </a:t>
            </a:r>
            <a:r>
              <a:rPr lang="he-IL" dirty="0" err="1">
                <a:solidFill>
                  <a:schemeClr val="lt1"/>
                </a:solidFill>
                <a:latin typeface="Rubik" panose="020B0604020202020204" charset="-79"/>
                <a:cs typeface="Rubik" panose="020B0604020202020204" charset="-79"/>
              </a:rPr>
              <a:t>מיידי</a:t>
            </a:r>
            <a:r>
              <a:rPr lang="he-IL" dirty="0">
                <a:solidFill>
                  <a:schemeClr val="lt1"/>
                </a:solidFill>
                <a:latin typeface="Rubik" panose="020B0604020202020204" charset="-79"/>
                <a:cs typeface="Rubik" panose="020B0604020202020204" charset="-79"/>
              </a:rPr>
              <a:t>.</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בחינת ארכיטקטורות </a:t>
            </a:r>
            <a:r>
              <a:rPr lang="en-US" dirty="0">
                <a:solidFill>
                  <a:schemeClr val="lt1"/>
                </a:solidFill>
                <a:latin typeface="Rubik" panose="020B0604020202020204" charset="-79"/>
                <a:cs typeface="Rubik" panose="020B0604020202020204" charset="-79"/>
              </a:rPr>
              <a:t>Deep Learning</a:t>
            </a:r>
            <a:r>
              <a:rPr lang="he-IL" dirty="0">
                <a:solidFill>
                  <a:schemeClr val="lt1"/>
                </a:solidFill>
                <a:latin typeface="Rubik" panose="020B0604020202020204" charset="-79"/>
                <a:cs typeface="Rubik" panose="020B0604020202020204" charset="-79"/>
              </a:rPr>
              <a:t>: בחינת רשתות נוירונים עמוקות או </a:t>
            </a:r>
            <a:r>
              <a:rPr lang="en-US" dirty="0">
                <a:solidFill>
                  <a:schemeClr val="lt1"/>
                </a:solidFill>
                <a:latin typeface="Rubik" panose="020B0604020202020204" charset="-79"/>
                <a:cs typeface="Rubik" panose="020B0604020202020204" charset="-79"/>
              </a:rPr>
              <a:t> Auto-encoders</a:t>
            </a:r>
            <a:r>
              <a:rPr lang="he-IL" dirty="0">
                <a:solidFill>
                  <a:schemeClr val="lt1"/>
                </a:solidFill>
                <a:latin typeface="Rubik" panose="020B0604020202020204" charset="-79"/>
                <a:cs typeface="Rubik" panose="020B0604020202020204" charset="-79"/>
              </a:rPr>
              <a:t>לזיהוי אנומליות וייצוג דחוס של הנתונים הפיננסיים.</a:t>
            </a:r>
          </a:p>
          <a:p>
            <a:pPr marL="342900" indent="-342900" algn="r" rtl="1">
              <a:buClr>
                <a:schemeClr val="bg1"/>
              </a:buClr>
              <a:buFont typeface="Arial" panose="020B0604020202020204" pitchFamily="34" charset="0"/>
              <a:buChar char="•"/>
            </a:pPr>
            <a:r>
              <a:rPr lang="he-IL" dirty="0">
                <a:solidFill>
                  <a:schemeClr val="lt1"/>
                </a:solidFill>
                <a:latin typeface="Rubik" panose="020B0604020202020204" charset="-79"/>
                <a:cs typeface="Rubik" panose="020B0604020202020204" charset="-79"/>
              </a:rPr>
              <a:t>אימות מול מקורות חיצוניים: הצלבת ממצאי המודל עם נתונים מנהליים של משרד הרווחה או הגופים המממנים כדי לשפר את דיוק הניבוי של קבוצת המיעוט</a:t>
            </a:r>
          </a:p>
          <a:p>
            <a:pPr marL="342900" indent="-342900" algn="r" rtl="1">
              <a:buClr>
                <a:schemeClr val="bg1"/>
              </a:buClr>
              <a:buFont typeface="Arial" panose="020B0604020202020204" pitchFamily="34" charset="0"/>
              <a:buChar char="•"/>
            </a:pPr>
            <a:endParaRPr lang="he-IL" dirty="0">
              <a:solidFill>
                <a:schemeClr val="lt1"/>
              </a:solidFill>
              <a:latin typeface="Rubik" panose="020B0604020202020204" charset="-79"/>
              <a:cs typeface="Rubik" panose="020B0604020202020204" charset="-79"/>
            </a:endParaRPr>
          </a:p>
          <a:p>
            <a:pPr marL="0" lvl="0" indent="0" algn="l" rtl="0">
              <a:spcBef>
                <a:spcPts val="0"/>
              </a:spcBef>
              <a:spcAft>
                <a:spcPts val="0"/>
              </a:spcAft>
              <a:buNone/>
            </a:pPr>
            <a:endParaRPr dirty="0"/>
          </a:p>
        </p:txBody>
      </p:sp>
      <p:sp>
        <p:nvSpPr>
          <p:cNvPr id="158" name="Google Shape;158;g3f57b3c638f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1107036" y="1588427"/>
            <a:ext cx="994316"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972600" y="1763267"/>
            <a:ext cx="10250700" cy="2219700"/>
          </a:xfrm>
          <a:prstGeom prst="rect">
            <a:avLst/>
          </a:prstGeom>
        </p:spPr>
        <p:txBody>
          <a:bodyPr spcFirstLastPara="1" wrap="square" lIns="121900" tIns="121900" rIns="121900" bIns="121900" anchor="t" anchorCtr="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a:endParaRPr/>
          </a:p>
        </p:txBody>
      </p:sp>
      <p:sp>
        <p:nvSpPr>
          <p:cNvPr id="15" name="Google Shape;15;p2"/>
          <p:cNvSpPr txBox="1">
            <a:spLocks noGrp="1"/>
          </p:cNvSpPr>
          <p:nvPr>
            <p:ph type="subTitle" idx="1"/>
          </p:nvPr>
        </p:nvSpPr>
        <p:spPr>
          <a:xfrm>
            <a:off x="972837" y="4230533"/>
            <a:ext cx="10250700" cy="7215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1107036" y="1588427"/>
            <a:ext cx="994316" cy="61102"/>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972600" y="1763267"/>
            <a:ext cx="10251300" cy="2024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22" name="Google Shape;22;p3"/>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1107036" y="1588427"/>
            <a:ext cx="994316" cy="61102"/>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972600" y="1758200"/>
            <a:ext cx="102516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29" name="Google Shape;29;p4"/>
          <p:cNvSpPr txBox="1">
            <a:spLocks noGrp="1"/>
          </p:cNvSpPr>
          <p:nvPr>
            <p:ph type="body" idx="1"/>
          </p:nvPr>
        </p:nvSpPr>
        <p:spPr>
          <a:xfrm>
            <a:off x="972600" y="2771833"/>
            <a:ext cx="102516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0" name="Google Shape;30;p4"/>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1107036" y="1588427"/>
            <a:ext cx="994316" cy="61102"/>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972600" y="1758200"/>
            <a:ext cx="102513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37" name="Google Shape;37;p5"/>
          <p:cNvSpPr txBox="1">
            <a:spLocks noGrp="1"/>
          </p:cNvSpPr>
          <p:nvPr>
            <p:ph type="body" idx="1"/>
          </p:nvPr>
        </p:nvSpPr>
        <p:spPr>
          <a:xfrm>
            <a:off x="972434" y="2771833"/>
            <a:ext cx="50325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8" name="Google Shape;38;p5"/>
          <p:cNvSpPr txBox="1">
            <a:spLocks noGrp="1"/>
          </p:cNvSpPr>
          <p:nvPr>
            <p:ph type="body" idx="2"/>
          </p:nvPr>
        </p:nvSpPr>
        <p:spPr>
          <a:xfrm>
            <a:off x="6191471" y="2771833"/>
            <a:ext cx="50325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39" name="Google Shape;39;p5"/>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1107036" y="1588427"/>
            <a:ext cx="994316" cy="61102"/>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972600" y="1758200"/>
            <a:ext cx="102513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46" name="Google Shape;46;p6"/>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1107036" y="1588427"/>
            <a:ext cx="994316" cy="61102"/>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973333" y="1758200"/>
            <a:ext cx="4401300" cy="18420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53" name="Google Shape;53;p7"/>
          <p:cNvSpPr txBox="1">
            <a:spLocks noGrp="1"/>
          </p:cNvSpPr>
          <p:nvPr>
            <p:ph type="body" idx="1"/>
          </p:nvPr>
        </p:nvSpPr>
        <p:spPr>
          <a:xfrm>
            <a:off x="961633" y="3708967"/>
            <a:ext cx="4401300" cy="21300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54" name="Google Shape;54;p7"/>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1107036" y="5558926"/>
            <a:ext cx="994316" cy="61102"/>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972600" y="1152400"/>
            <a:ext cx="9361500" cy="39801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60" name="Google Shape;60;p8"/>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1107036" y="1588427"/>
            <a:ext cx="994316" cy="61102"/>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973333" y="1758200"/>
            <a:ext cx="4401300" cy="2249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67" name="Google Shape;67;p9"/>
          <p:cNvSpPr txBox="1">
            <a:spLocks noGrp="1"/>
          </p:cNvSpPr>
          <p:nvPr>
            <p:ph type="subTitle" idx="1"/>
          </p:nvPr>
        </p:nvSpPr>
        <p:spPr>
          <a:xfrm>
            <a:off x="966600" y="4215367"/>
            <a:ext cx="4401300" cy="10119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
        <p:nvSpPr>
          <p:cNvPr id="68" name="Google Shape;68;p9"/>
          <p:cNvSpPr txBox="1">
            <a:spLocks noGrp="1"/>
          </p:cNvSpPr>
          <p:nvPr>
            <p:ph type="body" idx="2"/>
          </p:nvPr>
        </p:nvSpPr>
        <p:spPr>
          <a:xfrm>
            <a:off x="6898967" y="1803500"/>
            <a:ext cx="4499100" cy="40341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69" name="Google Shape;69;p9"/>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966600" y="5830068"/>
            <a:ext cx="10263300" cy="6141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1700"/>
              <a:buNone/>
              <a:defRPr/>
            </a:lvl1pPr>
          </a:lstStyle>
          <a:p>
            <a:endParaRPr/>
          </a:p>
        </p:txBody>
      </p:sp>
      <p:sp>
        <p:nvSpPr>
          <p:cNvPr id="72" name="Google Shape;72;p10"/>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1107036" y="5558926"/>
            <a:ext cx="994316" cy="61102"/>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972600" y="978600"/>
            <a:ext cx="10251300" cy="16596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10700"/>
              <a:buNone/>
              <a:defRPr sz="10700">
                <a:solidFill>
                  <a:schemeClr val="lt1"/>
                </a:solidFill>
              </a:defRPr>
            </a:lvl1pPr>
            <a:lvl2pPr lvl="1">
              <a:spcBef>
                <a:spcPts val="0"/>
              </a:spcBef>
              <a:spcAft>
                <a:spcPts val="0"/>
              </a:spcAft>
              <a:buClr>
                <a:schemeClr val="lt1"/>
              </a:buClr>
              <a:buSzPts val="10700"/>
              <a:buNone/>
              <a:defRPr sz="10700">
                <a:solidFill>
                  <a:schemeClr val="lt1"/>
                </a:solidFill>
              </a:defRPr>
            </a:lvl2pPr>
            <a:lvl3pPr lvl="2">
              <a:spcBef>
                <a:spcPts val="0"/>
              </a:spcBef>
              <a:spcAft>
                <a:spcPts val="0"/>
              </a:spcAft>
              <a:buClr>
                <a:schemeClr val="lt1"/>
              </a:buClr>
              <a:buSzPts val="10700"/>
              <a:buNone/>
              <a:defRPr sz="10700">
                <a:solidFill>
                  <a:schemeClr val="lt1"/>
                </a:solidFill>
              </a:defRPr>
            </a:lvl3pPr>
            <a:lvl4pPr lvl="3">
              <a:spcBef>
                <a:spcPts val="0"/>
              </a:spcBef>
              <a:spcAft>
                <a:spcPts val="0"/>
              </a:spcAft>
              <a:buClr>
                <a:schemeClr val="lt1"/>
              </a:buClr>
              <a:buSzPts val="10700"/>
              <a:buNone/>
              <a:defRPr sz="10700">
                <a:solidFill>
                  <a:schemeClr val="lt1"/>
                </a:solidFill>
              </a:defRPr>
            </a:lvl4pPr>
            <a:lvl5pPr lvl="4">
              <a:spcBef>
                <a:spcPts val="0"/>
              </a:spcBef>
              <a:spcAft>
                <a:spcPts val="0"/>
              </a:spcAft>
              <a:buClr>
                <a:schemeClr val="lt1"/>
              </a:buClr>
              <a:buSzPts val="10700"/>
              <a:buNone/>
              <a:defRPr sz="10700">
                <a:solidFill>
                  <a:schemeClr val="lt1"/>
                </a:solidFill>
              </a:defRPr>
            </a:lvl5pPr>
            <a:lvl6pPr lvl="5">
              <a:spcBef>
                <a:spcPts val="0"/>
              </a:spcBef>
              <a:spcAft>
                <a:spcPts val="0"/>
              </a:spcAft>
              <a:buClr>
                <a:schemeClr val="lt1"/>
              </a:buClr>
              <a:buSzPts val="10700"/>
              <a:buNone/>
              <a:defRPr sz="10700">
                <a:solidFill>
                  <a:schemeClr val="lt1"/>
                </a:solidFill>
              </a:defRPr>
            </a:lvl6pPr>
            <a:lvl7pPr lvl="6">
              <a:spcBef>
                <a:spcPts val="0"/>
              </a:spcBef>
              <a:spcAft>
                <a:spcPts val="0"/>
              </a:spcAft>
              <a:buClr>
                <a:schemeClr val="lt1"/>
              </a:buClr>
              <a:buSzPts val="10700"/>
              <a:buNone/>
              <a:defRPr sz="10700">
                <a:solidFill>
                  <a:schemeClr val="lt1"/>
                </a:solidFill>
              </a:defRPr>
            </a:lvl7pPr>
            <a:lvl8pPr lvl="7">
              <a:spcBef>
                <a:spcPts val="0"/>
              </a:spcBef>
              <a:spcAft>
                <a:spcPts val="0"/>
              </a:spcAft>
              <a:buClr>
                <a:schemeClr val="lt1"/>
              </a:buClr>
              <a:buSzPts val="10700"/>
              <a:buNone/>
              <a:defRPr sz="10700">
                <a:solidFill>
                  <a:schemeClr val="lt1"/>
                </a:solidFill>
              </a:defRPr>
            </a:lvl8pPr>
            <a:lvl9pPr lvl="8">
              <a:spcBef>
                <a:spcPts val="0"/>
              </a:spcBef>
              <a:spcAft>
                <a:spcPts val="0"/>
              </a:spcAft>
              <a:buClr>
                <a:schemeClr val="lt1"/>
              </a:buClr>
              <a:buSzPts val="10700"/>
              <a:buNone/>
              <a:defRPr sz="10700">
                <a:solidFill>
                  <a:schemeClr val="lt1"/>
                </a:solidFill>
              </a:defRPr>
            </a:lvl9pPr>
          </a:lstStyle>
          <a:p>
            <a:r>
              <a:t>xx%</a:t>
            </a:r>
          </a:p>
        </p:txBody>
      </p:sp>
      <p:sp>
        <p:nvSpPr>
          <p:cNvPr id="78" name="Google Shape;78;p11"/>
          <p:cNvSpPr txBox="1">
            <a:spLocks noGrp="1"/>
          </p:cNvSpPr>
          <p:nvPr>
            <p:ph type="body" idx="1"/>
          </p:nvPr>
        </p:nvSpPr>
        <p:spPr>
          <a:xfrm>
            <a:off x="972600" y="3030517"/>
            <a:ext cx="10251300" cy="21072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lt1"/>
              </a:buClr>
              <a:buSzPts val="1700"/>
              <a:buChar char="●"/>
              <a:defRPr>
                <a:solidFill>
                  <a:schemeClr val="lt1"/>
                </a:solidFill>
              </a:defRPr>
            </a:lvl1pPr>
            <a:lvl2pPr marL="914400" lvl="1" indent="-323850">
              <a:spcBef>
                <a:spcPts val="0"/>
              </a:spcBef>
              <a:spcAft>
                <a:spcPts val="0"/>
              </a:spcAft>
              <a:buClr>
                <a:schemeClr val="lt1"/>
              </a:buClr>
              <a:buSzPts val="1500"/>
              <a:buChar char="○"/>
              <a:defRPr>
                <a:solidFill>
                  <a:schemeClr val="lt1"/>
                </a:solidFill>
              </a:defRPr>
            </a:lvl2pPr>
            <a:lvl3pPr marL="1371600" lvl="2" indent="-323850">
              <a:spcBef>
                <a:spcPts val="0"/>
              </a:spcBef>
              <a:spcAft>
                <a:spcPts val="0"/>
              </a:spcAft>
              <a:buClr>
                <a:schemeClr val="lt1"/>
              </a:buClr>
              <a:buSzPts val="1500"/>
              <a:buChar char="■"/>
              <a:defRPr>
                <a:solidFill>
                  <a:schemeClr val="lt1"/>
                </a:solidFill>
              </a:defRPr>
            </a:lvl3pPr>
            <a:lvl4pPr marL="1828800" lvl="3" indent="-323850">
              <a:spcBef>
                <a:spcPts val="0"/>
              </a:spcBef>
              <a:spcAft>
                <a:spcPts val="0"/>
              </a:spcAft>
              <a:buClr>
                <a:schemeClr val="lt1"/>
              </a:buClr>
              <a:buSzPts val="1500"/>
              <a:buChar char="●"/>
              <a:defRPr>
                <a:solidFill>
                  <a:schemeClr val="lt1"/>
                </a:solidFill>
              </a:defRPr>
            </a:lvl4pPr>
            <a:lvl5pPr marL="2286000" lvl="4" indent="-323850">
              <a:spcBef>
                <a:spcPts val="0"/>
              </a:spcBef>
              <a:spcAft>
                <a:spcPts val="0"/>
              </a:spcAft>
              <a:buClr>
                <a:schemeClr val="lt1"/>
              </a:buClr>
              <a:buSzPts val="1500"/>
              <a:buChar char="○"/>
              <a:defRPr>
                <a:solidFill>
                  <a:schemeClr val="lt1"/>
                </a:solidFill>
              </a:defRPr>
            </a:lvl5pPr>
            <a:lvl6pPr marL="2743200" lvl="5" indent="-323850">
              <a:spcBef>
                <a:spcPts val="0"/>
              </a:spcBef>
              <a:spcAft>
                <a:spcPts val="0"/>
              </a:spcAft>
              <a:buClr>
                <a:schemeClr val="lt1"/>
              </a:buClr>
              <a:buSzPts val="1500"/>
              <a:buChar char="■"/>
              <a:defRPr>
                <a:solidFill>
                  <a:schemeClr val="lt1"/>
                </a:solidFill>
              </a:defRPr>
            </a:lvl6pPr>
            <a:lvl7pPr marL="3200400" lvl="6" indent="-323850">
              <a:spcBef>
                <a:spcPts val="0"/>
              </a:spcBef>
              <a:spcAft>
                <a:spcPts val="0"/>
              </a:spcAft>
              <a:buClr>
                <a:schemeClr val="lt1"/>
              </a:buClr>
              <a:buSzPts val="1500"/>
              <a:buChar char="●"/>
              <a:defRPr>
                <a:solidFill>
                  <a:schemeClr val="lt1"/>
                </a:solidFill>
              </a:defRPr>
            </a:lvl7pPr>
            <a:lvl8pPr marL="3657600" lvl="7" indent="-323850">
              <a:spcBef>
                <a:spcPts val="0"/>
              </a:spcBef>
              <a:spcAft>
                <a:spcPts val="0"/>
              </a:spcAft>
              <a:buClr>
                <a:schemeClr val="lt1"/>
              </a:buClr>
              <a:buSzPts val="1500"/>
              <a:buChar char="○"/>
              <a:defRPr>
                <a:solidFill>
                  <a:schemeClr val="lt1"/>
                </a:solidFill>
              </a:defRPr>
            </a:lvl8pPr>
            <a:lvl9pPr marL="4114800" lvl="8" indent="-323850">
              <a:spcBef>
                <a:spcPts val="0"/>
              </a:spcBef>
              <a:spcAft>
                <a:spcPts val="0"/>
              </a:spcAft>
              <a:buClr>
                <a:schemeClr val="lt1"/>
              </a:buClr>
              <a:buSzPts val="1500"/>
              <a:buChar char="■"/>
              <a:defRPr>
                <a:solidFill>
                  <a:schemeClr val="lt1"/>
                </a:solidFill>
              </a:defRPr>
            </a:lvl9pPr>
          </a:lstStyle>
          <a:p>
            <a:endParaRPr/>
          </a:p>
        </p:txBody>
      </p:sp>
      <p:sp>
        <p:nvSpPr>
          <p:cNvPr id="79" name="Google Shape;79;p11"/>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1pPr>
            <a:lvl2pPr lvl="1">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2pPr>
            <a:lvl3pPr lvl="2">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3pPr>
            <a:lvl4pPr lvl="3">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4pPr>
            <a:lvl5pPr lvl="4">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5pPr>
            <a:lvl6pPr lvl="5">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6pPr>
            <a:lvl7pPr lvl="6">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7pPr>
            <a:lvl8pPr lvl="7">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8pPr>
            <a:lvl9pPr lvl="8">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accent1"/>
              </a:buClr>
              <a:buSzPts val="1700"/>
              <a:buFont typeface="Lato"/>
              <a:buChar char="●"/>
              <a:defRPr sz="1700">
                <a:solidFill>
                  <a:schemeClr val="accent1"/>
                </a:solidFill>
                <a:latin typeface="Lato"/>
                <a:ea typeface="Lato"/>
                <a:cs typeface="Lato"/>
                <a:sym typeface="Lato"/>
              </a:defRPr>
            </a:lvl1pPr>
            <a:lvl2pPr marL="914400" lvl="1"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2pPr>
            <a:lvl3pPr marL="1371600" lvl="2"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3pPr>
            <a:lvl4pPr marL="1828800" lvl="3"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4pPr>
            <a:lvl5pPr marL="2286000" lvl="4"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5pPr>
            <a:lvl6pPr marL="2743200" lvl="5"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6pPr>
            <a:lvl7pPr marL="3200400" lvl="6"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7pPr>
            <a:lvl8pPr marL="3657600" lvl="7"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8pPr>
            <a:lvl9pPr marL="4114800" lvl="8" indent="-323850">
              <a:lnSpc>
                <a:spcPct val="115000"/>
              </a:lnSpc>
              <a:spcBef>
                <a:spcPts val="0"/>
              </a:spcBef>
              <a:spcAft>
                <a:spcPts val="0"/>
              </a:spcAft>
              <a:buClr>
                <a:schemeClr val="accent1"/>
              </a:buClr>
              <a:buSzPts val="1500"/>
              <a:buFont typeface="Lato"/>
              <a:buChar char="■"/>
              <a:defRPr sz="15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accent1"/>
                </a:solidFill>
                <a:latin typeface="Lato"/>
                <a:ea typeface="Lato"/>
                <a:cs typeface="Lato"/>
                <a:sym typeface="Lato"/>
              </a:defRPr>
            </a:lvl1pPr>
            <a:lvl2pPr lvl="1" algn="r">
              <a:buNone/>
              <a:defRPr sz="1300">
                <a:solidFill>
                  <a:schemeClr val="accent1"/>
                </a:solidFill>
                <a:latin typeface="Lato"/>
                <a:ea typeface="Lato"/>
                <a:cs typeface="Lato"/>
                <a:sym typeface="Lato"/>
              </a:defRPr>
            </a:lvl2pPr>
            <a:lvl3pPr lvl="2" algn="r">
              <a:buNone/>
              <a:defRPr sz="1300">
                <a:solidFill>
                  <a:schemeClr val="accent1"/>
                </a:solidFill>
                <a:latin typeface="Lato"/>
                <a:ea typeface="Lato"/>
                <a:cs typeface="Lato"/>
                <a:sym typeface="Lato"/>
              </a:defRPr>
            </a:lvl3pPr>
            <a:lvl4pPr lvl="3" algn="r">
              <a:buNone/>
              <a:defRPr sz="1300">
                <a:solidFill>
                  <a:schemeClr val="accent1"/>
                </a:solidFill>
                <a:latin typeface="Lato"/>
                <a:ea typeface="Lato"/>
                <a:cs typeface="Lato"/>
                <a:sym typeface="Lato"/>
              </a:defRPr>
            </a:lvl4pPr>
            <a:lvl5pPr lvl="4" algn="r">
              <a:buNone/>
              <a:defRPr sz="1300">
                <a:solidFill>
                  <a:schemeClr val="accent1"/>
                </a:solidFill>
                <a:latin typeface="Lato"/>
                <a:ea typeface="Lato"/>
                <a:cs typeface="Lato"/>
                <a:sym typeface="Lato"/>
              </a:defRPr>
            </a:lvl5pPr>
            <a:lvl6pPr lvl="5" algn="r">
              <a:buNone/>
              <a:defRPr sz="1300">
                <a:solidFill>
                  <a:schemeClr val="accent1"/>
                </a:solidFill>
                <a:latin typeface="Lato"/>
                <a:ea typeface="Lato"/>
                <a:cs typeface="Lato"/>
                <a:sym typeface="Lato"/>
              </a:defRPr>
            </a:lvl6pPr>
            <a:lvl7pPr lvl="6" algn="r">
              <a:buNone/>
              <a:defRPr sz="1300">
                <a:solidFill>
                  <a:schemeClr val="accent1"/>
                </a:solidFill>
                <a:latin typeface="Lato"/>
                <a:ea typeface="Lato"/>
                <a:cs typeface="Lato"/>
                <a:sym typeface="Lato"/>
              </a:defRPr>
            </a:lvl7pPr>
            <a:lvl8pPr lvl="7" algn="r">
              <a:buNone/>
              <a:defRPr sz="1300">
                <a:solidFill>
                  <a:schemeClr val="accent1"/>
                </a:solidFill>
                <a:latin typeface="Lato"/>
                <a:ea typeface="Lato"/>
                <a:cs typeface="Lato"/>
                <a:sym typeface="Lato"/>
              </a:defRPr>
            </a:lvl8pPr>
            <a:lvl9pPr lvl="8" algn="r">
              <a:buNone/>
              <a:defRPr sz="13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1.png"/><Relationship Id="rId7" Type="http://schemas.openxmlformats.org/officeDocument/2006/relationships/slide" Target="slide14.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12.xml"/><Relationship Id="rId4" Type="http://schemas.openxmlformats.org/officeDocument/2006/relationships/slide" Target="slide11.xml"/></Relationships>
</file>

<file path=ppt/slides/_rels/slide7.xml.rels><?xml version="1.0" encoding="UTF-8" standalone="yes"?>
<Relationships xmlns="http://schemas.openxmlformats.org/package/2006/relationships"><Relationship Id="rId8" Type="http://schemas.openxmlformats.org/officeDocument/2006/relationships/hyperlink" Target="index.html" TargetMode="Externa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7.emf"/><Relationship Id="rId4" Type="http://schemas.openxmlformats.org/officeDocument/2006/relationships/image" Target="../media/image4.png"/><Relationship Id="rId9"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0_D56EF72D.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9.png"/><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slide" Target="slide6.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6.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85"/>
        <p:cNvGrpSpPr/>
        <p:nvPr/>
      </p:nvGrpSpPr>
      <p:grpSpPr>
        <a:xfrm>
          <a:off x="0" y="0"/>
          <a:ext cx="0" cy="0"/>
          <a:chOff x="0" y="0"/>
          <a:chExt cx="0" cy="0"/>
        </a:xfrm>
      </p:grpSpPr>
      <p:sp>
        <p:nvSpPr>
          <p:cNvPr id="86" name="Google Shape;86;p13"/>
          <p:cNvSpPr txBox="1"/>
          <p:nvPr/>
        </p:nvSpPr>
        <p:spPr>
          <a:xfrm>
            <a:off x="2895600" y="2206079"/>
            <a:ext cx="64008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chemeClr val="lt1"/>
                </a:solidFill>
                <a:latin typeface="Fira Code"/>
                <a:ea typeface="Fira Code"/>
                <a:cs typeface="Fira Code"/>
                <a:sym typeface="Fira Code"/>
              </a:rPr>
              <a:t>BAR-ILAN UNIVERSITY | DEPARTMENT OF CONTINUING EDUCATION</a:t>
            </a:r>
            <a:endParaRPr>
              <a:solidFill>
                <a:schemeClr val="lt1"/>
              </a:solidFill>
            </a:endParaRPr>
          </a:p>
        </p:txBody>
      </p:sp>
      <p:sp>
        <p:nvSpPr>
          <p:cNvPr id="87" name="Google Shape;87;p13"/>
          <p:cNvSpPr txBox="1"/>
          <p:nvPr/>
        </p:nvSpPr>
        <p:spPr>
          <a:xfrm>
            <a:off x="305276" y="2756402"/>
            <a:ext cx="11581500" cy="1182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900" b="1">
                <a:solidFill>
                  <a:srgbClr val="FFFFFF"/>
                </a:solidFill>
                <a:latin typeface="Rubik"/>
                <a:ea typeface="Rubik"/>
                <a:cs typeface="Rubik"/>
                <a:sym typeface="Rubik"/>
              </a:rPr>
              <a:t>Financial Vulnerability Risk Scoring</a:t>
            </a:r>
            <a:endParaRPr sz="3900" b="1">
              <a:solidFill>
                <a:srgbClr val="FFFFFF"/>
              </a:solidFill>
              <a:latin typeface="Rubik"/>
              <a:ea typeface="Rubik"/>
              <a:cs typeface="Rubik"/>
              <a:sym typeface="Rubik"/>
            </a:endParaRPr>
          </a:p>
          <a:p>
            <a:pPr marL="0" marR="0" lvl="0" indent="0" algn="ctr" rtl="0">
              <a:lnSpc>
                <a:spcPct val="120000"/>
              </a:lnSpc>
              <a:spcBef>
                <a:spcPts val="0"/>
              </a:spcBef>
              <a:spcAft>
                <a:spcPts val="0"/>
              </a:spcAft>
              <a:buNone/>
            </a:pPr>
            <a:r>
              <a:rPr lang="en-US" sz="3000" b="1">
                <a:solidFill>
                  <a:srgbClr val="FFFFFF"/>
                </a:solidFill>
                <a:latin typeface="Rubik"/>
                <a:ea typeface="Rubik"/>
                <a:cs typeface="Rubik"/>
                <a:sym typeface="Rubik"/>
              </a:rPr>
              <a:t>Based on the Israeli Social Survey </a:t>
            </a:r>
            <a:endParaRPr sz="3000" b="1">
              <a:solidFill>
                <a:srgbClr val="FFFFFF"/>
              </a:solidFill>
              <a:latin typeface="Rubik"/>
              <a:ea typeface="Rubik"/>
              <a:cs typeface="Rubik"/>
              <a:sym typeface="Rubik"/>
            </a:endParaRPr>
          </a:p>
        </p:txBody>
      </p:sp>
      <p:sp>
        <p:nvSpPr>
          <p:cNvPr id="3" name="Google Shape;88;p13">
            <a:extLst>
              <a:ext uri="{FF2B5EF4-FFF2-40B4-BE49-F238E27FC236}">
                <a16:creationId xmlns:a16="http://schemas.microsoft.com/office/drawing/2014/main" id="{879FBA6A-1554-0DED-8C20-B6422B2FE64C}"/>
              </a:ext>
            </a:extLst>
          </p:cNvPr>
          <p:cNvSpPr txBox="1"/>
          <p:nvPr/>
        </p:nvSpPr>
        <p:spPr>
          <a:xfrm>
            <a:off x="2610150" y="4663465"/>
            <a:ext cx="6971700" cy="695832"/>
          </a:xfrm>
          <a:prstGeom prst="rect">
            <a:avLst/>
          </a:prstGeom>
          <a:noFill/>
          <a:ln>
            <a:noFill/>
          </a:ln>
        </p:spPr>
        <p:txBody>
          <a:bodyPr spcFirstLastPara="1" wrap="square" lIns="0" tIns="0" rIns="0" bIns="0" anchor="t" anchorCtr="0">
            <a:spAutoFit/>
          </a:bodyPr>
          <a:lstStyle/>
          <a:p>
            <a:pPr marL="0" marR="0" lvl="0" indent="0" algn="ctr" rtl="1">
              <a:lnSpc>
                <a:spcPct val="133333"/>
              </a:lnSpc>
              <a:spcBef>
                <a:spcPts val="0"/>
              </a:spcBef>
              <a:spcAft>
                <a:spcPts val="0"/>
              </a:spcAft>
              <a:buNone/>
            </a:pPr>
            <a:r>
              <a:rPr lang="he-IL" sz="1700" b="1" dirty="0">
                <a:solidFill>
                  <a:srgbClr val="1E293B"/>
                </a:solidFill>
                <a:latin typeface="Rubik"/>
                <a:cs typeface="Rubik"/>
                <a:sym typeface="Rubik"/>
              </a:rPr>
              <a:t>פרויקט אמצע – קורס</a:t>
            </a:r>
            <a:r>
              <a:rPr lang="en-US" sz="1700" b="1" dirty="0">
                <a:solidFill>
                  <a:srgbClr val="1E293B"/>
                </a:solidFill>
                <a:latin typeface="Rubik"/>
                <a:cs typeface="Rubik"/>
                <a:sym typeface="Rubik"/>
              </a:rPr>
              <a:t> </a:t>
            </a:r>
            <a:r>
              <a:rPr lang="he-IL" sz="1700" b="1" dirty="0">
                <a:solidFill>
                  <a:srgbClr val="1E293B"/>
                </a:solidFill>
                <a:latin typeface="Rubik"/>
                <a:cs typeface="Rubik"/>
                <a:sym typeface="Rubik"/>
              </a:rPr>
              <a:t> </a:t>
            </a:r>
            <a:r>
              <a:rPr lang="en-US" sz="1700" b="1" dirty="0">
                <a:solidFill>
                  <a:srgbClr val="1E293B"/>
                </a:solidFill>
                <a:latin typeface="Rubik"/>
                <a:cs typeface="Rubik"/>
                <a:sym typeface="Rubik"/>
              </a:rPr>
              <a:t>BIU DS</a:t>
            </a:r>
          </a:p>
          <a:p>
            <a:pPr marL="0" marR="0" lvl="0" indent="0" algn="ctr" rtl="1">
              <a:lnSpc>
                <a:spcPct val="133333"/>
              </a:lnSpc>
              <a:spcBef>
                <a:spcPts val="0"/>
              </a:spcBef>
              <a:spcAft>
                <a:spcPts val="0"/>
              </a:spcAft>
              <a:buNone/>
            </a:pPr>
            <a:r>
              <a:rPr lang="he-IL" sz="1700" b="1" dirty="0">
                <a:solidFill>
                  <a:srgbClr val="1E293B"/>
                </a:solidFill>
                <a:latin typeface="Rubik"/>
                <a:cs typeface="Rubik"/>
                <a:sym typeface="Rubik"/>
              </a:rPr>
              <a:t>מציגים: שי שדה, אור </a:t>
            </a:r>
            <a:r>
              <a:rPr lang="he-IL" sz="1700" b="1" dirty="0" err="1">
                <a:solidFill>
                  <a:srgbClr val="1E293B"/>
                </a:solidFill>
                <a:latin typeface="Rubik"/>
                <a:cs typeface="Rubik"/>
                <a:sym typeface="Rubik"/>
              </a:rPr>
              <a:t>ארבלי</a:t>
            </a:r>
            <a:r>
              <a:rPr lang="he-IL" sz="1700" b="1" dirty="0">
                <a:solidFill>
                  <a:srgbClr val="1E293B"/>
                </a:solidFill>
                <a:latin typeface="Rubik"/>
                <a:cs typeface="Rubik"/>
                <a:sym typeface="Rubik"/>
              </a:rPr>
              <a:t>, עובד ביטון ובני </a:t>
            </a:r>
            <a:r>
              <a:rPr lang="he-IL" sz="1700" b="1" dirty="0" err="1">
                <a:solidFill>
                  <a:srgbClr val="1E293B"/>
                </a:solidFill>
                <a:latin typeface="Rubik"/>
                <a:cs typeface="Rubik"/>
                <a:sym typeface="Rubik"/>
              </a:rPr>
              <a:t>סלירוסס</a:t>
            </a:r>
            <a:r>
              <a:rPr lang="he-IL" sz="1700" b="1" dirty="0">
                <a:solidFill>
                  <a:srgbClr val="1E293B"/>
                </a:solidFill>
                <a:latin typeface="Rubik"/>
                <a:cs typeface="Rubik"/>
                <a:sym typeface="Rubik"/>
              </a:rPr>
              <a:t> | מנחה: שלומית לבבי</a:t>
            </a:r>
            <a:endParaRPr sz="1600" b="1" dirty="0">
              <a:solidFill>
                <a:srgbClr val="1E293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6286501" y="2022325"/>
            <a:ext cx="5324474" cy="3848123"/>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81026" y="2022325"/>
            <a:ext cx="5324474" cy="3290455"/>
          </a:xfrm>
          <a:prstGeom prst="rect">
            <a:avLst/>
          </a:prstGeom>
          <a:noFill/>
          <a:ln>
            <a:noFill/>
          </a:ln>
        </p:spPr>
      </p:pic>
      <p:sp>
        <p:nvSpPr>
          <p:cNvPr id="95" name="Google Shape;95;p14"/>
          <p:cNvSpPr txBox="1"/>
          <p:nvPr/>
        </p:nvSpPr>
        <p:spPr>
          <a:xfrm>
            <a:off x="6368917" y="2318273"/>
            <a:ext cx="49707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800" b="1" i="0" u="none" strike="noStrike" cap="none" dirty="0">
                <a:solidFill>
                  <a:srgbClr val="06B6D4"/>
                </a:solidFill>
                <a:latin typeface="Rubik"/>
                <a:ea typeface="Rubik"/>
                <a:cs typeface="Rubik"/>
                <a:sym typeface="Rubik"/>
              </a:rPr>
              <a:t>הגדרת הבעיה</a:t>
            </a:r>
            <a:endParaRPr dirty="0"/>
          </a:p>
        </p:txBody>
      </p:sp>
      <p:sp>
        <p:nvSpPr>
          <p:cNvPr id="96" name="Google Shape;96;p14"/>
          <p:cNvSpPr txBox="1"/>
          <p:nvPr/>
        </p:nvSpPr>
        <p:spPr>
          <a:xfrm>
            <a:off x="6534938" y="2686541"/>
            <a:ext cx="4827600" cy="3102388"/>
          </a:xfrm>
          <a:prstGeom prst="rect">
            <a:avLst/>
          </a:prstGeom>
          <a:noFill/>
          <a:ln>
            <a:noFill/>
          </a:ln>
        </p:spPr>
        <p:txBody>
          <a:bodyPr spcFirstLastPara="1" wrap="square" lIns="0" tIns="0" rIns="0" bIns="0" anchor="t" anchorCtr="0">
            <a:spAutoFit/>
          </a:bodyPr>
          <a:lstStyle/>
          <a:p>
            <a:pPr lvl="0" algn="just" rtl="1">
              <a:lnSpc>
                <a:spcPct val="160000"/>
              </a:lnSpc>
            </a:pPr>
            <a:r>
              <a:rPr lang="he-IL" b="1" dirty="0">
                <a:solidFill>
                  <a:srgbClr val="CBD5E1"/>
                </a:solidFill>
                <a:latin typeface="Rubik"/>
                <a:ea typeface="Rubik"/>
                <a:cs typeface="Rubik"/>
                <a:sym typeface="Rubik"/>
              </a:rPr>
              <a:t>פגיעות פיננסית היא מצב שבו משקי בית ויחידים נמצאים על סף הידרדרות למצוקה כלכלית משמעותית. פעמים רבות סימני האזהרה מופיעים בהדרגה ואינם מזוהים בזמן.</a:t>
            </a:r>
          </a:p>
          <a:p>
            <a:pPr lvl="0" algn="just" rtl="1">
              <a:lnSpc>
                <a:spcPct val="160000"/>
              </a:lnSpc>
            </a:pPr>
            <a:r>
              <a:rPr lang="he-IL" b="1" dirty="0">
                <a:solidFill>
                  <a:srgbClr val="CBD5E1"/>
                </a:solidFill>
                <a:latin typeface="Rubik"/>
                <a:ea typeface="Rubik"/>
                <a:cs typeface="Rubik"/>
                <a:sym typeface="Rubik"/>
              </a:rPr>
              <a:t>עבור גופים פיננסיים, קובעי מדיניות ומשרדי ממשלה, האתגר המרכזי הוא לזהות מראש ובזמן אמת את אותם משקי בית הנמצאים בסיכון לפגיעות פיננסית. היעדר יכולת זיהוי מוקדם מוביל לזיהוי מאוחר של אוכלוסיות בסיכון, להקצאה לא מיטבית של משאבים ולפגיעה ביכולת למקד תוכניות ממשלתיות והתערבויות באוכלוסיות הזקוקות להן ביותר.</a:t>
            </a:r>
          </a:p>
        </p:txBody>
      </p:sp>
      <p:sp>
        <p:nvSpPr>
          <p:cNvPr id="97" name="Google Shape;97;p14"/>
          <p:cNvSpPr txBox="1"/>
          <p:nvPr/>
        </p:nvSpPr>
        <p:spPr>
          <a:xfrm>
            <a:off x="639601" y="2320184"/>
            <a:ext cx="4970700" cy="277200"/>
          </a:xfrm>
          <a:prstGeom prst="rect">
            <a:avLst/>
          </a:prstGeom>
          <a:noFill/>
          <a:ln>
            <a:noFill/>
          </a:ln>
        </p:spPr>
        <p:txBody>
          <a:bodyPr spcFirstLastPara="1" wrap="square" lIns="0" tIns="0" rIns="0" bIns="0" anchor="t" anchorCtr="0">
            <a:spAutoFit/>
          </a:bodyPr>
          <a:lstStyle/>
          <a:p>
            <a:pPr lvl="0" algn="r" rtl="1"/>
            <a:r>
              <a:rPr lang="he-IL" sz="1800" b="1" dirty="0">
                <a:solidFill>
                  <a:srgbClr val="06B6D4"/>
                </a:solidFill>
                <a:latin typeface="Rubik"/>
                <a:ea typeface="Rubik"/>
                <a:cs typeface="Rubik"/>
                <a:sym typeface="Rubik"/>
              </a:rPr>
              <a:t>למה חשוב לפתור אותה</a:t>
            </a:r>
            <a:endParaRPr dirty="0"/>
          </a:p>
        </p:txBody>
      </p:sp>
      <p:sp>
        <p:nvSpPr>
          <p:cNvPr id="98" name="Google Shape;98;p14"/>
          <p:cNvSpPr txBox="1"/>
          <p:nvPr/>
        </p:nvSpPr>
        <p:spPr>
          <a:xfrm>
            <a:off x="876301" y="2686541"/>
            <a:ext cx="4734000" cy="2412968"/>
          </a:xfrm>
          <a:prstGeom prst="rect">
            <a:avLst/>
          </a:prstGeom>
          <a:noFill/>
          <a:ln>
            <a:noFill/>
          </a:ln>
        </p:spPr>
        <p:txBody>
          <a:bodyPr spcFirstLastPara="1" wrap="square" lIns="0" tIns="0" rIns="0" bIns="0" anchor="t" anchorCtr="0">
            <a:spAutoFit/>
          </a:bodyPr>
          <a:lstStyle/>
          <a:p>
            <a:pPr lvl="0" algn="r" rtl="1">
              <a:lnSpc>
                <a:spcPct val="160000"/>
              </a:lnSpc>
            </a:pPr>
            <a:r>
              <a:rPr lang="he-IL" b="1" dirty="0">
                <a:solidFill>
                  <a:srgbClr val="CBD5E1"/>
                </a:solidFill>
                <a:latin typeface="Rubik"/>
                <a:ea typeface="Rubik"/>
                <a:cs typeface="Rubik"/>
                <a:sym typeface="Rubik"/>
              </a:rPr>
              <a:t>מניעה פרואקטיבית וצמצום הפסדים - מעבר מגישה מגיבה לגישה מנבאת.</a:t>
            </a:r>
            <a:endParaRPr lang="en-US" b="1" dirty="0">
              <a:solidFill>
                <a:srgbClr val="CBD5E1"/>
              </a:solidFill>
              <a:latin typeface="Rubik"/>
              <a:ea typeface="Rubik"/>
              <a:cs typeface="Rubik"/>
              <a:sym typeface="Rubik"/>
            </a:endParaRPr>
          </a:p>
          <a:p>
            <a:pPr lvl="0" algn="r" rtl="1">
              <a:lnSpc>
                <a:spcPct val="160000"/>
              </a:lnSpc>
            </a:pPr>
            <a:r>
              <a:rPr lang="he-IL" b="1" dirty="0">
                <a:solidFill>
                  <a:srgbClr val="CBD5E1"/>
                </a:solidFill>
                <a:latin typeface="Rubik"/>
                <a:ea typeface="Rubik"/>
                <a:cs typeface="Rubik"/>
                <a:sym typeface="Rubik"/>
              </a:rPr>
              <a:t>יציבות המערכת הפיננסית  - מניעת כשלים מרובים מגינה על הבנקים והמלווים.</a:t>
            </a:r>
          </a:p>
          <a:p>
            <a:pPr lvl="0" algn="r" rtl="1">
              <a:lnSpc>
                <a:spcPct val="160000"/>
              </a:lnSpc>
            </a:pPr>
            <a:r>
              <a:rPr lang="he-IL" b="1" dirty="0">
                <a:solidFill>
                  <a:srgbClr val="CBD5E1"/>
                </a:solidFill>
                <a:latin typeface="Rubik"/>
                <a:ea typeface="Rubik"/>
                <a:cs typeface="Rubik"/>
                <a:sym typeface="Rubik"/>
              </a:rPr>
              <a:t>ייעול משאבים - במקום לחלק תקציבי תמיכה בצורה רוחבית ולא יעילה,  מודל ה-</a:t>
            </a:r>
            <a:r>
              <a:rPr lang="en-US" b="1" dirty="0">
                <a:solidFill>
                  <a:srgbClr val="CBD5E1"/>
                </a:solidFill>
                <a:latin typeface="Rubik"/>
                <a:ea typeface="Rubik"/>
                <a:cs typeface="Rubik"/>
                <a:sym typeface="Rubik"/>
              </a:rPr>
              <a:t>Risk Scoring</a:t>
            </a:r>
            <a:r>
              <a:rPr lang="he-IL" b="1" dirty="0">
                <a:solidFill>
                  <a:srgbClr val="CBD5E1"/>
                </a:solidFill>
                <a:latin typeface="Rubik"/>
                <a:ea typeface="Rubik"/>
                <a:cs typeface="Rubik"/>
                <a:sym typeface="Rubik"/>
              </a:rPr>
              <a:t> </a:t>
            </a:r>
            <a:r>
              <a:rPr lang="en-US" b="1" dirty="0">
                <a:solidFill>
                  <a:srgbClr val="CBD5E1"/>
                </a:solidFill>
                <a:latin typeface="Rubik"/>
                <a:ea typeface="Rubik"/>
                <a:cs typeface="Rubik"/>
                <a:sym typeface="Rubik"/>
              </a:rPr>
              <a:t> </a:t>
            </a:r>
            <a:r>
              <a:rPr lang="he-IL" b="1" dirty="0">
                <a:solidFill>
                  <a:srgbClr val="CBD5E1"/>
                </a:solidFill>
                <a:latin typeface="Rubik"/>
                <a:ea typeface="Rubik"/>
                <a:cs typeface="Rubik"/>
                <a:sym typeface="Rubik"/>
              </a:rPr>
              <a:t>מאפשר "צליפה ממוקדת" ובכך ממקסם את ה-</a:t>
            </a:r>
            <a:r>
              <a:rPr lang="en-US" b="1" dirty="0">
                <a:solidFill>
                  <a:srgbClr val="CBD5E1"/>
                </a:solidFill>
                <a:latin typeface="Rubik"/>
                <a:ea typeface="Rubik"/>
                <a:cs typeface="Rubik"/>
                <a:sym typeface="Rubik"/>
              </a:rPr>
              <a:t>ROI</a:t>
            </a:r>
            <a:r>
              <a:rPr lang="he-IL" b="1" dirty="0">
                <a:solidFill>
                  <a:srgbClr val="CBD5E1"/>
                </a:solidFill>
                <a:latin typeface="Rubik"/>
                <a:ea typeface="Rubik"/>
                <a:cs typeface="Rubik"/>
                <a:sym typeface="Rubik"/>
              </a:rPr>
              <a:t> </a:t>
            </a:r>
            <a:r>
              <a:rPr lang="en-US" b="1" dirty="0">
                <a:solidFill>
                  <a:srgbClr val="CBD5E1"/>
                </a:solidFill>
                <a:latin typeface="Rubik"/>
                <a:ea typeface="Rubik"/>
                <a:cs typeface="Rubik"/>
                <a:sym typeface="Rubik"/>
              </a:rPr>
              <a:t> </a:t>
            </a:r>
            <a:r>
              <a:rPr lang="he-IL" b="1" dirty="0">
                <a:solidFill>
                  <a:srgbClr val="CBD5E1"/>
                </a:solidFill>
                <a:latin typeface="Rubik"/>
                <a:ea typeface="Rubik"/>
                <a:cs typeface="Rubik"/>
                <a:sym typeface="Rubik"/>
              </a:rPr>
              <a:t>החברתי והכלכלי של כל שקל מושקע. </a:t>
            </a:r>
            <a:endParaRPr b="1" dirty="0">
              <a:solidFill>
                <a:srgbClr val="CBD5E1"/>
              </a:solidFill>
              <a:latin typeface="Rubik"/>
              <a:ea typeface="Rubik"/>
              <a:cs typeface="Rubik"/>
              <a:sym typeface="Rubik"/>
            </a:endParaRPr>
          </a:p>
        </p:txBody>
      </p:sp>
      <p:sp>
        <p:nvSpPr>
          <p:cNvPr id="99" name="Google Shape;99;p14"/>
          <p:cNvSpPr txBox="1"/>
          <p:nvPr/>
        </p:nvSpPr>
        <p:spPr>
          <a:xfrm>
            <a:off x="543850" y="557737"/>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a:solidFill>
                  <a:srgbClr val="F8FAFC"/>
                </a:solidFill>
                <a:latin typeface="Rubik SemiBold"/>
                <a:ea typeface="Rubik SemiBold"/>
                <a:cs typeface="Rubik SemiBold"/>
                <a:sym typeface="Rubik SemiBold"/>
              </a:rPr>
              <a:t>The Business Problem </a:t>
            </a:r>
            <a:endParaRPr/>
          </a:p>
        </p:txBody>
      </p:sp>
      <p:sp>
        <p:nvSpPr>
          <p:cNvPr id="100" name="Google Shape;100;p14"/>
          <p:cNvSpPr/>
          <p:nvPr/>
        </p:nvSpPr>
        <p:spPr>
          <a:xfrm>
            <a:off x="581025" y="1162050"/>
            <a:ext cx="11029950" cy="1905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04"/>
        <p:cNvGrpSpPr/>
        <p:nvPr/>
      </p:nvGrpSpPr>
      <p:grpSpPr>
        <a:xfrm>
          <a:off x="0" y="0"/>
          <a:ext cx="0" cy="0"/>
          <a:chOff x="0" y="0"/>
          <a:chExt cx="0" cy="0"/>
        </a:xfrm>
      </p:grpSpPr>
      <p:pic>
        <p:nvPicPr>
          <p:cNvPr id="105" name="Google Shape;105;p15" descr="image.png"/>
          <p:cNvPicPr preferRelativeResize="0"/>
          <p:nvPr/>
        </p:nvPicPr>
        <p:blipFill rotWithShape="1">
          <a:blip r:embed="rId3">
            <a:alphaModFix/>
          </a:blip>
          <a:srcRect/>
          <a:stretch/>
        </p:blipFill>
        <p:spPr>
          <a:xfrm>
            <a:off x="364214" y="1366125"/>
            <a:ext cx="11435899" cy="5396475"/>
          </a:xfrm>
          <a:prstGeom prst="rect">
            <a:avLst/>
          </a:prstGeom>
          <a:noFill/>
          <a:ln>
            <a:noFill/>
          </a:ln>
        </p:spPr>
      </p:pic>
      <p:sp>
        <p:nvSpPr>
          <p:cNvPr id="106" name="Google Shape;106;p15"/>
          <p:cNvSpPr txBox="1"/>
          <p:nvPr/>
        </p:nvSpPr>
        <p:spPr>
          <a:xfrm>
            <a:off x="570300" y="593293"/>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dirty="0">
                <a:solidFill>
                  <a:srgbClr val="F8FAFC"/>
                </a:solidFill>
                <a:latin typeface="Rubik SemiBold"/>
                <a:ea typeface="Rubik SemiBold"/>
                <a:cs typeface="Rubik SemiBold"/>
                <a:sym typeface="Rubik SemiBold"/>
              </a:rPr>
              <a:t>The Solution Overview</a:t>
            </a:r>
            <a:endParaRPr dirty="0"/>
          </a:p>
        </p:txBody>
      </p:sp>
      <p:sp>
        <p:nvSpPr>
          <p:cNvPr id="107" name="Google Shape;107;p15"/>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5"/>
          <p:cNvSpPr txBox="1"/>
          <p:nvPr/>
        </p:nvSpPr>
        <p:spPr>
          <a:xfrm>
            <a:off x="261258" y="1922896"/>
            <a:ext cx="11246910" cy="6093976"/>
          </a:xfrm>
          <a:prstGeom prst="rect">
            <a:avLst/>
          </a:prstGeom>
          <a:noFill/>
          <a:ln>
            <a:noFill/>
          </a:ln>
        </p:spPr>
        <p:txBody>
          <a:bodyPr spcFirstLastPara="1" wrap="square" lIns="266700" tIns="0" rIns="0" bIns="0" anchor="t" anchorCtr="0">
            <a:spAutoFit/>
          </a:bodyPr>
          <a:lstStyle/>
          <a:p>
            <a:pPr algn="r" rtl="1">
              <a:spcAft>
                <a:spcPts val="1200"/>
              </a:spcAft>
            </a:pPr>
            <a:r>
              <a:rPr lang="he-IL" sz="1800" b="1" dirty="0">
                <a:solidFill>
                  <a:schemeClr val="bg1"/>
                </a:solidFill>
                <a:latin typeface="Rubik" panose="020B0604020202020204" charset="-79"/>
                <a:cs typeface="Rubik" panose="020B0604020202020204" charset="-79"/>
              </a:rPr>
              <a:t>מה המערכת עושה בפועל?</a:t>
            </a:r>
            <a:endParaRPr lang="en-IL" sz="1800" b="1"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מודל סיווג היברידי</a:t>
            </a:r>
            <a:r>
              <a:rPr lang="he-IL" sz="1500" dirty="0">
                <a:solidFill>
                  <a:schemeClr val="bg1"/>
                </a:solidFill>
                <a:latin typeface="Rubik" panose="020B0604020202020204" charset="-79"/>
                <a:cs typeface="Rubik" panose="020B0604020202020204" charset="-79"/>
              </a:rPr>
              <a:t>: המערכת מהווה "צינור נתונים" (</a:t>
            </a:r>
            <a:r>
              <a:rPr lang="en-IL" sz="1500" dirty="0">
                <a:solidFill>
                  <a:schemeClr val="bg1"/>
                </a:solidFill>
                <a:latin typeface="Rubik" panose="020B0604020202020204" charset="-79"/>
                <a:cs typeface="Rubik" panose="020B0604020202020204" charset="-79"/>
              </a:rPr>
              <a:t>Pipeline</a:t>
            </a:r>
            <a:r>
              <a:rPr lang="he-IL" sz="1500" dirty="0">
                <a:solidFill>
                  <a:schemeClr val="bg1"/>
                </a:solidFill>
                <a:latin typeface="Rubik" panose="020B0604020202020204" charset="-79"/>
                <a:cs typeface="Rubik" panose="020B0604020202020204" charset="-79"/>
              </a:rPr>
              <a:t>) המשלב למידת מכונה מונחית</a:t>
            </a:r>
            <a:r>
              <a:rPr lang="en-US" sz="1500" dirty="0">
                <a:solidFill>
                  <a:schemeClr val="bg1"/>
                </a:solidFill>
                <a:latin typeface="Rubik" panose="020B0604020202020204" charset="-79"/>
                <a:cs typeface="Rubik" panose="020B0604020202020204" charset="-79"/>
              </a:rPr>
              <a:t> SL </a:t>
            </a:r>
            <a:r>
              <a:rPr lang="he-IL" sz="1500" dirty="0">
                <a:solidFill>
                  <a:schemeClr val="bg1"/>
                </a:solidFill>
                <a:latin typeface="Rubik" panose="020B0604020202020204" charset="-79"/>
                <a:cs typeface="Rubik" panose="020B0604020202020204" charset="-79"/>
              </a:rPr>
              <a:t> עם למידה לא-מונחית (</a:t>
            </a:r>
            <a:r>
              <a:rPr lang="en-IL" sz="1500" dirty="0" err="1">
                <a:solidFill>
                  <a:schemeClr val="bg1"/>
                </a:solidFill>
                <a:latin typeface="Rubik" panose="020B0604020202020204" charset="-79"/>
                <a:cs typeface="Rubik" panose="020B0604020202020204" charset="-79"/>
              </a:rPr>
              <a:t>GMM</a:t>
            </a:r>
            <a:r>
              <a:rPr lang="he-IL" sz="1500" dirty="0">
                <a:solidFill>
                  <a:schemeClr val="bg1"/>
                </a:solidFill>
                <a:latin typeface="Rubik" panose="020B0604020202020204" charset="-79"/>
                <a:cs typeface="Rubik" panose="020B0604020202020204" charset="-79"/>
              </a:rPr>
              <a:t>) לצורך דירוג סיכון כלכלי</a:t>
            </a:r>
            <a:r>
              <a:rPr lang="en-US" sz="1500" dirty="0">
                <a:solidFill>
                  <a:schemeClr val="bg1"/>
                </a:solidFill>
                <a:latin typeface="Rubik" panose="020B0604020202020204" charset="-79"/>
                <a:cs typeface="Rubik" panose="020B0604020202020204" charset="-79"/>
              </a:rPr>
              <a:t>.</a:t>
            </a:r>
            <a:endParaRPr lang="en-IL" sz="1500"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עיבוד </a:t>
            </a:r>
            <a:r>
              <a:rPr lang="en-IL" sz="1500" u="sng" dirty="0">
                <a:solidFill>
                  <a:schemeClr val="bg1"/>
                </a:solidFill>
                <a:latin typeface="Rubik" panose="020B0604020202020204" charset="-79"/>
                <a:cs typeface="Rubik" panose="020B0604020202020204" charset="-79"/>
              </a:rPr>
              <a:t>Big Data</a:t>
            </a:r>
            <a:r>
              <a:rPr lang="he-IL" sz="1500" dirty="0">
                <a:solidFill>
                  <a:schemeClr val="bg1"/>
                </a:solidFill>
                <a:latin typeface="Rubik" panose="020B0604020202020204" charset="-79"/>
                <a:cs typeface="Rubik" panose="020B0604020202020204" charset="-79"/>
              </a:rPr>
              <a:t>: המערכת קולטת משתנים דמוגרפיים, התנהגותיים וכלכליים מתוך הסקר החברתי של </a:t>
            </a:r>
            <a:r>
              <a:rPr lang="he-IL" sz="1500" dirty="0" err="1">
                <a:solidFill>
                  <a:schemeClr val="bg1"/>
                </a:solidFill>
                <a:latin typeface="Rubik" panose="020B0604020202020204" charset="-79"/>
                <a:cs typeface="Rubik" panose="020B0604020202020204" charset="-79"/>
              </a:rPr>
              <a:t>הלמ"ס</a:t>
            </a:r>
            <a:r>
              <a:rPr lang="he-IL" sz="1500" dirty="0">
                <a:solidFill>
                  <a:schemeClr val="bg1"/>
                </a:solidFill>
                <a:latin typeface="Rubik" panose="020B0604020202020204" charset="-79"/>
                <a:cs typeface="Rubik" panose="020B0604020202020204" charset="-79"/>
              </a:rPr>
              <a:t> לשנת 2024</a:t>
            </a:r>
            <a:r>
              <a:rPr lang="en-US" sz="1500" dirty="0">
                <a:solidFill>
                  <a:schemeClr val="bg1"/>
                </a:solidFill>
                <a:latin typeface="Rubik" panose="020B0604020202020204" charset="-79"/>
                <a:cs typeface="Rubik" panose="020B0604020202020204" charset="-79"/>
              </a:rPr>
              <a:t>.</a:t>
            </a:r>
            <a:endParaRPr lang="en-IL" sz="1500"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ניתוח הסברתי</a:t>
            </a:r>
            <a:r>
              <a:rPr lang="he-IL" sz="1500" dirty="0">
                <a:solidFill>
                  <a:schemeClr val="bg1"/>
                </a:solidFill>
                <a:latin typeface="Rubik" panose="020B0604020202020204" charset="-79"/>
                <a:cs typeface="Rubik" panose="020B0604020202020204" charset="-79"/>
              </a:rPr>
              <a:t>: המערכת מייצרת מאפיינים מרחביים סמויים המייצגים את מיקום הפרט ביחס לשאר האוכלוסייה, ומנפקת סיווג בינארי (יציב/בסיכון)</a:t>
            </a:r>
            <a:r>
              <a:rPr lang="en-US" sz="1500" dirty="0">
                <a:solidFill>
                  <a:schemeClr val="bg1"/>
                </a:solidFill>
                <a:latin typeface="Rubik" panose="020B0604020202020204" charset="-79"/>
                <a:cs typeface="Rubik" panose="020B0604020202020204" charset="-79"/>
              </a:rPr>
              <a:t>.</a:t>
            </a:r>
            <a:br>
              <a:rPr lang="en-US" sz="1500" dirty="0">
                <a:solidFill>
                  <a:schemeClr val="bg1"/>
                </a:solidFill>
                <a:latin typeface="Rubik" panose="020B0604020202020204" charset="-79"/>
                <a:cs typeface="Rubik" panose="020B0604020202020204" charset="-79"/>
              </a:rPr>
            </a:br>
            <a:r>
              <a:rPr lang="he-IL" sz="1500" u="sng" dirty="0">
                <a:solidFill>
                  <a:schemeClr val="bg1"/>
                </a:solidFill>
                <a:latin typeface="Rubik" panose="020B0604020202020204" charset="-79"/>
                <a:cs typeface="Rubik" panose="020B0604020202020204" charset="-79"/>
              </a:rPr>
              <a:t>שקיפות (</a:t>
            </a:r>
            <a:r>
              <a:rPr lang="en-IL" sz="1500" u="sng" dirty="0">
                <a:solidFill>
                  <a:schemeClr val="bg1"/>
                </a:solidFill>
                <a:latin typeface="Rubik" panose="020B0604020202020204" charset="-79"/>
                <a:cs typeface="Rubik" panose="020B0604020202020204" charset="-79"/>
              </a:rPr>
              <a:t>XAI</a:t>
            </a:r>
            <a:r>
              <a:rPr lang="he-IL" sz="1500" u="sng" dirty="0">
                <a:solidFill>
                  <a:schemeClr val="bg1"/>
                </a:solidFill>
                <a:latin typeface="Rubik" panose="020B0604020202020204" charset="-79"/>
                <a:cs typeface="Rubik" panose="020B0604020202020204" charset="-79"/>
              </a:rPr>
              <a:t>)</a:t>
            </a:r>
            <a:r>
              <a:rPr lang="he-IL" sz="1500" dirty="0">
                <a:solidFill>
                  <a:schemeClr val="bg1"/>
                </a:solidFill>
                <a:latin typeface="Rubik" panose="020B0604020202020204" charset="-79"/>
                <a:cs typeface="Rubik" panose="020B0604020202020204" charset="-79"/>
              </a:rPr>
              <a:t>: בעזרת רכיב </a:t>
            </a:r>
            <a:r>
              <a:rPr lang="en-IL" sz="1500" dirty="0" err="1">
                <a:solidFill>
                  <a:schemeClr val="bg1"/>
                </a:solidFill>
                <a:latin typeface="Rubik" panose="020B0604020202020204" charset="-79"/>
                <a:cs typeface="Rubik" panose="020B0604020202020204" charset="-79"/>
              </a:rPr>
              <a:t>SHAP</a:t>
            </a:r>
            <a:r>
              <a:rPr lang="he-IL" sz="1500" dirty="0">
                <a:solidFill>
                  <a:schemeClr val="bg1"/>
                </a:solidFill>
                <a:latin typeface="Rubik" panose="020B0604020202020204" charset="-79"/>
                <a:cs typeface="Rubik" panose="020B0604020202020204" charset="-79"/>
              </a:rPr>
              <a:t>, המערכת מפרקת כל חיזוי ומסבירה בדיוק אילו משתנים השפיעו על הציון</a:t>
            </a:r>
            <a:r>
              <a:rPr lang="en-US" sz="1500" dirty="0">
                <a:solidFill>
                  <a:schemeClr val="bg1"/>
                </a:solidFill>
                <a:latin typeface="Rubik" panose="020B0604020202020204" charset="-79"/>
                <a:cs typeface="Rubik" panose="020B0604020202020204" charset="-79"/>
              </a:rPr>
              <a:t>.</a:t>
            </a:r>
          </a:p>
          <a:p>
            <a:pPr algn="r" rtl="1">
              <a:spcAft>
                <a:spcPts val="1200"/>
              </a:spcAft>
            </a:pPr>
            <a:endParaRPr lang="en-IL" sz="1500" dirty="0">
              <a:solidFill>
                <a:schemeClr val="bg1"/>
              </a:solidFill>
              <a:latin typeface="Rubik" panose="020B0604020202020204" charset="-79"/>
              <a:cs typeface="Rubik" panose="020B0604020202020204" charset="-79"/>
            </a:endParaRPr>
          </a:p>
          <a:p>
            <a:pPr algn="r" rtl="1">
              <a:spcAft>
                <a:spcPts val="1200"/>
              </a:spcAft>
            </a:pPr>
            <a:r>
              <a:rPr lang="he-IL" sz="1800" b="1" dirty="0">
                <a:solidFill>
                  <a:schemeClr val="bg1"/>
                </a:solidFill>
                <a:latin typeface="Rubik" panose="020B0604020202020204" charset="-79"/>
                <a:cs typeface="Rubik" panose="020B0604020202020204" charset="-79"/>
              </a:rPr>
              <a:t>איך המערכת פותרת את הבעיה?</a:t>
            </a:r>
            <a:endParaRPr lang="en-IL" sz="1800" b="1"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מעבר מזיהוי בדיעבד לניבוי מקדים</a:t>
            </a:r>
            <a:r>
              <a:rPr lang="he-IL" sz="1500" dirty="0">
                <a:solidFill>
                  <a:schemeClr val="bg1"/>
                </a:solidFill>
                <a:latin typeface="Rubik" panose="020B0604020202020204" charset="-79"/>
                <a:cs typeface="Rubik" panose="020B0604020202020204" charset="-79"/>
              </a:rPr>
              <a:t>: במקום להמתין למשבר כלכלי שכבר קרה, המערכת מזהה "נורות אזהרה שקטות" וקשרים לא-ליניאריים מורכבים בנתונים</a:t>
            </a:r>
            <a:r>
              <a:rPr lang="en-US" sz="1500" dirty="0">
                <a:solidFill>
                  <a:schemeClr val="bg1"/>
                </a:solidFill>
                <a:latin typeface="Rubik" panose="020B0604020202020204" charset="-79"/>
                <a:cs typeface="Rubik" panose="020B0604020202020204" charset="-79"/>
              </a:rPr>
              <a:t>.</a:t>
            </a:r>
            <a:endParaRPr lang="en-IL" sz="1500"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דיוק בחלוקת משאבים</a:t>
            </a:r>
            <a:r>
              <a:rPr lang="he-IL" sz="1500" dirty="0">
                <a:solidFill>
                  <a:schemeClr val="bg1"/>
                </a:solidFill>
                <a:latin typeface="Rubik" panose="020B0604020202020204" charset="-79"/>
                <a:cs typeface="Rubik" panose="020B0604020202020204" charset="-79"/>
              </a:rPr>
              <a:t>: החיזוי מחליף חוקים ידניים קשיחים (</a:t>
            </a:r>
            <a:r>
              <a:rPr lang="en-IL" sz="1500" dirty="0">
                <a:solidFill>
                  <a:schemeClr val="bg1"/>
                </a:solidFill>
                <a:latin typeface="Rubik" panose="020B0604020202020204" charset="-79"/>
                <a:cs typeface="Rubik" panose="020B0604020202020204" charset="-79"/>
              </a:rPr>
              <a:t>Heuristics</a:t>
            </a:r>
            <a:r>
              <a:rPr lang="he-IL" sz="1500" dirty="0">
                <a:solidFill>
                  <a:schemeClr val="bg1"/>
                </a:solidFill>
                <a:latin typeface="Rubik" panose="020B0604020202020204" charset="-79"/>
                <a:cs typeface="Rubik" panose="020B0604020202020204" charset="-79"/>
              </a:rPr>
              <a:t>) ומאפשר לגופים ממשלתיים ופיננסיים לבצע "צליפה ממוקדת" אל עבר קבוצת הסיכון (המהווה כ-23% מהאוכלוסייה)</a:t>
            </a:r>
            <a:r>
              <a:rPr lang="en-US" sz="1500" dirty="0">
                <a:solidFill>
                  <a:schemeClr val="bg1"/>
                </a:solidFill>
                <a:latin typeface="Rubik" panose="020B0604020202020204" charset="-79"/>
                <a:cs typeface="Rubik" panose="020B0604020202020204" charset="-79"/>
              </a:rPr>
              <a:t>.</a:t>
            </a:r>
            <a:endParaRPr lang="en-IL" sz="1500" dirty="0">
              <a:solidFill>
                <a:schemeClr val="bg1"/>
              </a:solidFill>
              <a:latin typeface="Rubik" panose="020B0604020202020204" charset="-79"/>
              <a:cs typeface="Rubik" panose="020B0604020202020204" charset="-79"/>
            </a:endParaRPr>
          </a:p>
          <a:p>
            <a:pPr algn="r" rtl="1">
              <a:spcAft>
                <a:spcPts val="1200"/>
              </a:spcAft>
            </a:pPr>
            <a:r>
              <a:rPr lang="he-IL" sz="1500" u="sng" dirty="0">
                <a:solidFill>
                  <a:schemeClr val="bg1"/>
                </a:solidFill>
                <a:latin typeface="Rubik" panose="020B0604020202020204" charset="-79"/>
                <a:cs typeface="Rubik" panose="020B0604020202020204" charset="-79"/>
              </a:rPr>
              <a:t>שיפור ביצועים מבני</a:t>
            </a:r>
            <a:r>
              <a:rPr lang="he-IL" sz="1500" dirty="0">
                <a:solidFill>
                  <a:schemeClr val="bg1"/>
                </a:solidFill>
                <a:latin typeface="Rubik" panose="020B0604020202020204" charset="-79"/>
                <a:cs typeface="Rubik" panose="020B0604020202020204" charset="-79"/>
              </a:rPr>
              <a:t>: שילוב מאפייני ה-</a:t>
            </a:r>
            <a:r>
              <a:rPr lang="en-IL" sz="1500" dirty="0" err="1">
                <a:solidFill>
                  <a:schemeClr val="bg1"/>
                </a:solidFill>
                <a:latin typeface="Rubik" panose="020B0604020202020204" charset="-79"/>
                <a:cs typeface="Rubik" panose="020B0604020202020204" charset="-79"/>
              </a:rPr>
              <a:t>GMM</a:t>
            </a:r>
            <a:r>
              <a:rPr lang="he-IL" sz="1500" dirty="0">
                <a:solidFill>
                  <a:schemeClr val="bg1"/>
                </a:solidFill>
                <a:latin typeface="Rubik" panose="020B0604020202020204" charset="-79"/>
                <a:cs typeface="Rubik" panose="020B0604020202020204" charset="-79"/>
              </a:rPr>
              <a:t> </a:t>
            </a:r>
            <a:r>
              <a:rPr lang="en-IL" sz="1500" dirty="0">
                <a:solidFill>
                  <a:schemeClr val="bg1"/>
                </a:solidFill>
                <a:latin typeface="Rubik" panose="020B0604020202020204" charset="-79"/>
                <a:cs typeface="Rubik" panose="020B0604020202020204" charset="-79"/>
              </a:rPr>
              <a:t> </a:t>
            </a:r>
            <a:r>
              <a:rPr lang="he-IL" sz="1500" dirty="0">
                <a:solidFill>
                  <a:schemeClr val="bg1"/>
                </a:solidFill>
                <a:latin typeface="Rubik" panose="020B0604020202020204" charset="-79"/>
                <a:cs typeface="Rubik" panose="020B0604020202020204" charset="-79"/>
              </a:rPr>
              <a:t>העשיר את מרחב המאפיינים והוביל לשיפור</a:t>
            </a:r>
            <a:r>
              <a:rPr lang="en-US" sz="1500" dirty="0">
                <a:solidFill>
                  <a:schemeClr val="bg1"/>
                </a:solidFill>
                <a:latin typeface="Rubik" panose="020B0604020202020204" charset="-79"/>
                <a:cs typeface="Rubik" panose="020B0604020202020204" charset="-79"/>
              </a:rPr>
              <a:t> </a:t>
            </a:r>
            <a:r>
              <a:rPr lang="he-IL" sz="1500" dirty="0">
                <a:solidFill>
                  <a:schemeClr val="bg1"/>
                </a:solidFill>
                <a:latin typeface="Rubik" panose="020B0604020202020204" charset="-79"/>
                <a:cs typeface="Rubik" panose="020B0604020202020204" charset="-79"/>
              </a:rPr>
              <a:t>ביצועים משמעותי של כ-4.5% ביכולת ההפרדה של המודל (</a:t>
            </a:r>
            <a:r>
              <a:rPr lang="en-IL" sz="1500" dirty="0">
                <a:solidFill>
                  <a:schemeClr val="bg1"/>
                </a:solidFill>
                <a:latin typeface="Rubik" panose="020B0604020202020204" charset="-79"/>
                <a:cs typeface="Rubik" panose="020B0604020202020204" charset="-79"/>
              </a:rPr>
              <a:t>ROC AUC</a:t>
            </a:r>
            <a:r>
              <a:rPr lang="he-IL" sz="1500" dirty="0">
                <a:solidFill>
                  <a:schemeClr val="bg1"/>
                </a:solidFill>
                <a:latin typeface="Rubik" panose="020B0604020202020204" charset="-79"/>
                <a:cs typeface="Rubik" panose="020B0604020202020204" charset="-79"/>
              </a:rPr>
              <a:t>)</a:t>
            </a:r>
            <a:r>
              <a:rPr lang="en-US" sz="1500" dirty="0">
                <a:solidFill>
                  <a:schemeClr val="bg1"/>
                </a:solidFill>
                <a:latin typeface="Rubik" panose="020B0604020202020204" charset="-79"/>
                <a:cs typeface="Rubik" panose="020B0604020202020204" charset="-79"/>
              </a:rPr>
              <a:t>.</a:t>
            </a:r>
            <a:endParaRPr lang="en-IL" sz="1500" dirty="0">
              <a:solidFill>
                <a:schemeClr val="bg1"/>
              </a:solidFill>
              <a:latin typeface="Rubik" panose="020B0604020202020204" charset="-79"/>
              <a:cs typeface="Rubik" panose="020B0604020202020204" charset="-79"/>
            </a:endParaRPr>
          </a:p>
          <a:p>
            <a:pPr marL="142875" lvl="0" algn="r" rtl="1">
              <a:lnSpc>
                <a:spcPct val="150000"/>
              </a:lnSpc>
              <a:buClr>
                <a:srgbClr val="FFFFFF"/>
              </a:buClr>
              <a:buSzPts val="1350"/>
            </a:pPr>
            <a:endParaRPr lang="he-IL" sz="1500" dirty="0">
              <a:solidFill>
                <a:schemeClr val="bg1"/>
              </a:solidFill>
              <a:latin typeface="Rubik" panose="020B0604020202020204" charset="-79"/>
              <a:ea typeface="Rubik Medium"/>
              <a:cs typeface="Rubik" panose="020B0604020202020204" charset="-79"/>
              <a:sym typeface="Rubik Medium"/>
            </a:endParaRPr>
          </a:p>
          <a:p>
            <a:pPr marL="142875" lvl="0" algn="r" rtl="1">
              <a:lnSpc>
                <a:spcPct val="150000"/>
              </a:lnSpc>
              <a:buClr>
                <a:srgbClr val="FFFFFF"/>
              </a:buClr>
              <a:buSzPts val="1350"/>
            </a:pPr>
            <a:endParaRPr lang="he-IL" sz="1500" dirty="0">
              <a:solidFill>
                <a:schemeClr val="bg1"/>
              </a:solidFill>
              <a:latin typeface="Rubik" panose="020B0604020202020204" charset="-79"/>
              <a:ea typeface="Rubik Medium"/>
              <a:cs typeface="Rubik" panose="020B0604020202020204" charset="-79"/>
              <a:sym typeface="Rubik Medium"/>
            </a:endParaRPr>
          </a:p>
          <a:p>
            <a:pPr marL="142875" lvl="0" algn="r" rtl="1">
              <a:lnSpc>
                <a:spcPct val="150000"/>
              </a:lnSpc>
              <a:buClr>
                <a:srgbClr val="FFFFFF"/>
              </a:buClr>
              <a:buSzPts val="1350"/>
            </a:pPr>
            <a:endParaRPr lang="he-IL" sz="1500" dirty="0">
              <a:solidFill>
                <a:schemeClr val="bg1"/>
              </a:solidFill>
              <a:latin typeface="Rubik" panose="020B0604020202020204" charset="-79"/>
              <a:ea typeface="Rubik Medium"/>
              <a:cs typeface="Rubik" panose="020B0604020202020204" charset="-79"/>
              <a:sym typeface="Rubik Medium"/>
            </a:endParaRPr>
          </a:p>
          <a:p>
            <a:pPr marL="142875" lvl="0" algn="r" rtl="1">
              <a:lnSpc>
                <a:spcPct val="150000"/>
              </a:lnSpc>
              <a:spcBef>
                <a:spcPts val="0"/>
              </a:spcBef>
              <a:spcAft>
                <a:spcPts val="0"/>
              </a:spcAft>
              <a:buClr>
                <a:srgbClr val="FFFFFF"/>
              </a:buClr>
              <a:buSzPts val="1350"/>
            </a:pPr>
            <a:endParaRPr sz="1500" dirty="0">
              <a:solidFill>
                <a:schemeClr val="bg1"/>
              </a:solidFill>
              <a:latin typeface="Rubik" panose="020B0604020202020204" charset="-79"/>
              <a:ea typeface="Rubik Medium"/>
              <a:cs typeface="Rubik" panose="020B0604020202020204" charset="-79"/>
              <a:sym typeface="Rubik Medium"/>
            </a:endParaRPr>
          </a:p>
        </p:txBody>
      </p:sp>
      <p:sp>
        <p:nvSpPr>
          <p:cNvPr id="3" name="Google Shape;95;p14">
            <a:extLst>
              <a:ext uri="{FF2B5EF4-FFF2-40B4-BE49-F238E27FC236}">
                <a16:creationId xmlns:a16="http://schemas.microsoft.com/office/drawing/2014/main" id="{291CB46E-B92A-A592-B005-06EBE1C6ACA7}"/>
              </a:ext>
            </a:extLst>
          </p:cNvPr>
          <p:cNvSpPr txBox="1"/>
          <p:nvPr/>
        </p:nvSpPr>
        <p:spPr>
          <a:xfrm>
            <a:off x="3146473" y="1490622"/>
            <a:ext cx="5899054" cy="307777"/>
          </a:xfrm>
          <a:prstGeom prst="rect">
            <a:avLst/>
          </a:prstGeom>
          <a:noFill/>
          <a:ln>
            <a:noFill/>
          </a:ln>
        </p:spPr>
        <p:txBody>
          <a:bodyPr spcFirstLastPara="1" wrap="square" lIns="0" tIns="0" rIns="0" bIns="0" anchor="t" anchorCtr="0">
            <a:spAutoFit/>
          </a:bodyPr>
          <a:lstStyle/>
          <a:p>
            <a:pPr lvl="0" algn="l" rtl="1"/>
            <a:r>
              <a:rPr lang="he-IL" sz="2000" b="1" dirty="0">
                <a:solidFill>
                  <a:srgbClr val="06B6D4"/>
                </a:solidFill>
                <a:latin typeface="Rubik"/>
                <a:ea typeface="Rubik"/>
                <a:cs typeface="Rubik"/>
                <a:sym typeface="Rubik"/>
              </a:rPr>
              <a:t>הפתרון – מערכת </a:t>
            </a:r>
            <a:r>
              <a:rPr lang="en-US" sz="2000" b="1" dirty="0">
                <a:solidFill>
                  <a:srgbClr val="06B6D4"/>
                </a:solidFill>
                <a:latin typeface="Rubik"/>
                <a:ea typeface="Rubik"/>
                <a:cs typeface="Rubik"/>
                <a:sym typeface="Rubik"/>
              </a:rPr>
              <a:t>Risk Scoring</a:t>
            </a:r>
            <a:r>
              <a:rPr lang="he-IL" sz="2000" b="1" dirty="0">
                <a:solidFill>
                  <a:srgbClr val="06B6D4"/>
                </a:solidFill>
                <a:latin typeface="Rubik"/>
                <a:ea typeface="Rubik"/>
                <a:cs typeface="Rubik"/>
                <a:sym typeface="Rubik"/>
              </a:rPr>
              <a:t> </a:t>
            </a:r>
            <a:r>
              <a:rPr lang="en-US" sz="2000" b="1" dirty="0">
                <a:solidFill>
                  <a:srgbClr val="06B6D4"/>
                </a:solidFill>
                <a:latin typeface="Rubik"/>
                <a:ea typeface="Rubik"/>
                <a:cs typeface="Rubik"/>
                <a:sym typeface="Rubik"/>
              </a:rPr>
              <a:t> </a:t>
            </a:r>
            <a:r>
              <a:rPr lang="he-IL" sz="2000" b="1" dirty="0">
                <a:solidFill>
                  <a:srgbClr val="06B6D4"/>
                </a:solidFill>
                <a:latin typeface="Rubik"/>
                <a:ea typeface="Rubik"/>
                <a:cs typeface="Rubik"/>
                <a:sym typeface="Rubik"/>
              </a:rPr>
              <a:t>לניבוי פגיעות פיננסית</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12"/>
        <p:cNvGrpSpPr/>
        <p:nvPr/>
      </p:nvGrpSpPr>
      <p:grpSpPr>
        <a:xfrm>
          <a:off x="0" y="0"/>
          <a:ext cx="0" cy="0"/>
          <a:chOff x="0" y="0"/>
          <a:chExt cx="0" cy="0"/>
        </a:xfrm>
      </p:grpSpPr>
      <p:pic>
        <p:nvPicPr>
          <p:cNvPr id="19" name="Google Shape;115;p16" descr="image.png">
            <a:extLst>
              <a:ext uri="{FF2B5EF4-FFF2-40B4-BE49-F238E27FC236}">
                <a16:creationId xmlns:a16="http://schemas.microsoft.com/office/drawing/2014/main" id="{F63739AD-3F45-3530-AE3F-A3FCE160B4C9}"/>
              </a:ext>
            </a:extLst>
          </p:cNvPr>
          <p:cNvPicPr preferRelativeResize="0"/>
          <p:nvPr/>
        </p:nvPicPr>
        <p:blipFill rotWithShape="1">
          <a:blip r:embed="rId3">
            <a:alphaModFix/>
          </a:blip>
          <a:srcRect/>
          <a:stretch/>
        </p:blipFill>
        <p:spPr>
          <a:xfrm>
            <a:off x="1775650" y="2426281"/>
            <a:ext cx="8737301" cy="3043066"/>
          </a:xfrm>
          <a:prstGeom prst="rect">
            <a:avLst/>
          </a:prstGeom>
          <a:noFill/>
          <a:ln>
            <a:noFill/>
          </a:ln>
        </p:spPr>
      </p:pic>
      <p:sp>
        <p:nvSpPr>
          <p:cNvPr id="5" name="מלבן: פינות מעוגלות 4">
            <a:extLst>
              <a:ext uri="{FF2B5EF4-FFF2-40B4-BE49-F238E27FC236}">
                <a16:creationId xmlns:a16="http://schemas.microsoft.com/office/drawing/2014/main" id="{D07A793B-FC7B-0E72-C624-E0CDD0A419A1}"/>
              </a:ext>
            </a:extLst>
          </p:cNvPr>
          <p:cNvSpPr/>
          <p:nvPr/>
        </p:nvSpPr>
        <p:spPr>
          <a:xfrm>
            <a:off x="1946253" y="2830196"/>
            <a:ext cx="8395175" cy="2461522"/>
          </a:xfrm>
          <a:prstGeom prst="roundRect">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a:ln>
            <a:solidFill>
              <a:schemeClr val="accent1">
                <a:shade val="15000"/>
                <a:alpha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27" name="Google Shape;115;p16" descr="image.png">
            <a:extLst>
              <a:ext uri="{FF2B5EF4-FFF2-40B4-BE49-F238E27FC236}">
                <a16:creationId xmlns:a16="http://schemas.microsoft.com/office/drawing/2014/main" id="{78543DD6-90B9-25D4-BDA2-811069AB4C3C}"/>
              </a:ext>
            </a:extLst>
          </p:cNvPr>
          <p:cNvPicPr preferRelativeResize="0"/>
          <p:nvPr/>
        </p:nvPicPr>
        <p:blipFill rotWithShape="1">
          <a:blip r:embed="rId3">
            <a:alphaModFix/>
          </a:blip>
          <a:srcRect/>
          <a:stretch/>
        </p:blipFill>
        <p:spPr>
          <a:xfrm>
            <a:off x="1780688" y="5736040"/>
            <a:ext cx="8737301" cy="825963"/>
          </a:xfrm>
          <a:prstGeom prst="rect">
            <a:avLst/>
          </a:prstGeom>
          <a:noFill/>
          <a:ln>
            <a:noFill/>
          </a:ln>
        </p:spPr>
      </p:pic>
      <p:sp>
        <p:nvSpPr>
          <p:cNvPr id="113" name="Google Shape;113;p16"/>
          <p:cNvSpPr txBox="1"/>
          <p:nvPr/>
        </p:nvSpPr>
        <p:spPr>
          <a:xfrm>
            <a:off x="570300" y="576975"/>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a:solidFill>
                  <a:srgbClr val="F8FAFC"/>
                </a:solidFill>
                <a:latin typeface="Rubik SemiBold"/>
                <a:ea typeface="Rubik SemiBold"/>
                <a:cs typeface="Rubik SemiBold"/>
                <a:sym typeface="Rubik SemiBold"/>
              </a:rPr>
              <a:t>Information Flow &amp; Model Pipeline</a:t>
            </a:r>
            <a:endParaRPr/>
          </a:p>
        </p:txBody>
      </p:sp>
      <p:sp>
        <p:nvSpPr>
          <p:cNvPr id="114" name="Google Shape;114;p16"/>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5" name="Google Shape;115;p16" descr="image.png"/>
          <p:cNvPicPr preferRelativeResize="0"/>
          <p:nvPr/>
        </p:nvPicPr>
        <p:blipFill rotWithShape="1">
          <a:blip r:embed="rId3">
            <a:alphaModFix/>
          </a:blip>
          <a:srcRect/>
          <a:stretch/>
        </p:blipFill>
        <p:spPr>
          <a:xfrm>
            <a:off x="1775650" y="1326911"/>
            <a:ext cx="8737301" cy="825963"/>
          </a:xfrm>
          <a:prstGeom prst="rect">
            <a:avLst/>
          </a:prstGeom>
          <a:noFill/>
          <a:ln>
            <a:noFill/>
          </a:ln>
        </p:spPr>
      </p:pic>
      <p:sp>
        <p:nvSpPr>
          <p:cNvPr id="119" name="Google Shape;119;p16"/>
          <p:cNvSpPr txBox="1"/>
          <p:nvPr/>
        </p:nvSpPr>
        <p:spPr>
          <a:xfrm>
            <a:off x="3610654" y="1401314"/>
            <a:ext cx="49707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Input</a:t>
            </a:r>
            <a:endParaRPr dirty="0"/>
          </a:p>
        </p:txBody>
      </p:sp>
      <p:sp>
        <p:nvSpPr>
          <p:cNvPr id="128" name="Google Shape;128;p16"/>
          <p:cNvSpPr txBox="1"/>
          <p:nvPr/>
        </p:nvSpPr>
        <p:spPr>
          <a:xfrm>
            <a:off x="3603190" y="5785139"/>
            <a:ext cx="49707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Output</a:t>
            </a:r>
            <a:endParaRPr dirty="0"/>
          </a:p>
        </p:txBody>
      </p:sp>
      <p:sp>
        <p:nvSpPr>
          <p:cNvPr id="4" name="תיבת טקסט 3">
            <a:extLst>
              <a:ext uri="{FF2B5EF4-FFF2-40B4-BE49-F238E27FC236}">
                <a16:creationId xmlns:a16="http://schemas.microsoft.com/office/drawing/2014/main" id="{2D82DDAE-AFFD-2630-7E3E-76434D643366}"/>
              </a:ext>
            </a:extLst>
          </p:cNvPr>
          <p:cNvSpPr txBox="1"/>
          <p:nvPr/>
        </p:nvSpPr>
        <p:spPr>
          <a:xfrm>
            <a:off x="2602917" y="1684213"/>
            <a:ext cx="7435049" cy="523220"/>
          </a:xfrm>
          <a:prstGeom prst="rect">
            <a:avLst/>
          </a:prstGeom>
          <a:noFill/>
        </p:spPr>
        <p:txBody>
          <a:bodyPr wrap="none" rtlCol="0">
            <a:spAutoFit/>
          </a:bodyPr>
          <a:lstStyle/>
          <a:p>
            <a:r>
              <a:rPr lang="he-IL" dirty="0">
                <a:solidFill>
                  <a:schemeClr val="lt1"/>
                </a:solidFill>
                <a:highlight>
                  <a:srgbClr val="22262B"/>
                </a:highlight>
                <a:latin typeface="Rubik" panose="020B0604020202020204" charset="-79"/>
                <a:cs typeface="Rubik" panose="020B0604020202020204" charset="-79"/>
              </a:rPr>
              <a:t>נתונים דמוגרפיים והתנהגות כלכלית מהסקר החברתי</a:t>
            </a:r>
            <a:r>
              <a:rPr lang="he-IL" dirty="0">
                <a:solidFill>
                  <a:schemeClr val="lt1"/>
                </a:solidFill>
                <a:latin typeface="Rubik" panose="020B0604020202020204" charset="-79"/>
                <a:cs typeface="Rubik" panose="020B0604020202020204" charset="-79"/>
              </a:rPr>
              <a:t> של הלשכה המרכזית לסטטיסטיקה לשנת 2024</a:t>
            </a:r>
          </a:p>
          <a:p>
            <a:endParaRPr lang="en-IL" dirty="0">
              <a:latin typeface="Rubik" panose="020B0604020202020204" charset="-79"/>
              <a:cs typeface="Rubik" panose="020B0604020202020204" charset="-79"/>
            </a:endParaRPr>
          </a:p>
        </p:txBody>
      </p:sp>
      <p:sp>
        <p:nvSpPr>
          <p:cNvPr id="9" name="חץ: למטה 8">
            <a:extLst>
              <a:ext uri="{FF2B5EF4-FFF2-40B4-BE49-F238E27FC236}">
                <a16:creationId xmlns:a16="http://schemas.microsoft.com/office/drawing/2014/main" id="{9E951061-014D-CE46-6039-E3C577B05EFA}"/>
              </a:ext>
            </a:extLst>
          </p:cNvPr>
          <p:cNvSpPr/>
          <p:nvPr/>
        </p:nvSpPr>
        <p:spPr>
          <a:xfrm>
            <a:off x="6004560" y="2140825"/>
            <a:ext cx="182880" cy="2711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תיבת טקסט 12">
            <a:extLst>
              <a:ext uri="{FF2B5EF4-FFF2-40B4-BE49-F238E27FC236}">
                <a16:creationId xmlns:a16="http://schemas.microsoft.com/office/drawing/2014/main" id="{0B9A455C-0A10-9FDF-F37D-EFF401F6D3FF}"/>
              </a:ext>
            </a:extLst>
          </p:cNvPr>
          <p:cNvSpPr txBox="1"/>
          <p:nvPr/>
        </p:nvSpPr>
        <p:spPr>
          <a:xfrm>
            <a:off x="4744578" y="6076598"/>
            <a:ext cx="2885726" cy="307777"/>
          </a:xfrm>
          <a:prstGeom prst="rect">
            <a:avLst/>
          </a:prstGeom>
          <a:noFill/>
        </p:spPr>
        <p:txBody>
          <a:bodyPr wrap="none" rtlCol="0">
            <a:spAutoFit/>
          </a:bodyPr>
          <a:lstStyle/>
          <a:p>
            <a:pPr algn="ctr" rtl="1"/>
            <a:r>
              <a:rPr lang="he-IL" dirty="0">
                <a:solidFill>
                  <a:schemeClr val="lt1"/>
                </a:solidFill>
                <a:highlight>
                  <a:srgbClr val="22262B"/>
                </a:highlight>
                <a:latin typeface="Rubik" panose="020B0604020202020204" charset="-79"/>
                <a:cs typeface="Rubik" panose="020B0604020202020204" charset="-79"/>
              </a:rPr>
              <a:t>מתן ציון סיכון,  ופירוש התוצאות (</a:t>
            </a:r>
            <a:r>
              <a:rPr lang="en-US" dirty="0">
                <a:solidFill>
                  <a:schemeClr val="lt1"/>
                </a:solidFill>
                <a:highlight>
                  <a:srgbClr val="22262B"/>
                </a:highlight>
                <a:latin typeface="Rubik" panose="020B0604020202020204" charset="-79"/>
                <a:cs typeface="Rubik" panose="020B0604020202020204" charset="-79"/>
              </a:rPr>
              <a:t>XAI</a:t>
            </a:r>
            <a:r>
              <a:rPr lang="he-IL" dirty="0">
                <a:solidFill>
                  <a:schemeClr val="lt1"/>
                </a:solidFill>
                <a:highlight>
                  <a:srgbClr val="22262B"/>
                </a:highlight>
                <a:latin typeface="Rubik" panose="020B0604020202020204" charset="-79"/>
                <a:cs typeface="Rubik" panose="020B0604020202020204" charset="-79"/>
              </a:rPr>
              <a:t>).</a:t>
            </a:r>
            <a:endParaRPr lang="en-IL" dirty="0">
              <a:latin typeface="Rubik" panose="020B0604020202020204" charset="-79"/>
              <a:cs typeface="Rubik" panose="020B0604020202020204" charset="-79"/>
            </a:endParaRPr>
          </a:p>
        </p:txBody>
      </p:sp>
      <p:sp>
        <p:nvSpPr>
          <p:cNvPr id="17" name="חץ: למטה 16">
            <a:extLst>
              <a:ext uri="{FF2B5EF4-FFF2-40B4-BE49-F238E27FC236}">
                <a16:creationId xmlns:a16="http://schemas.microsoft.com/office/drawing/2014/main" id="{47E7023C-A9F1-3D09-4BB8-77A437D7E3A4}"/>
              </a:ext>
            </a:extLst>
          </p:cNvPr>
          <p:cNvSpPr/>
          <p:nvPr/>
        </p:nvSpPr>
        <p:spPr>
          <a:xfrm>
            <a:off x="6007986" y="2844767"/>
            <a:ext cx="182880" cy="2711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חץ: למטה 24">
            <a:extLst>
              <a:ext uri="{FF2B5EF4-FFF2-40B4-BE49-F238E27FC236}">
                <a16:creationId xmlns:a16="http://schemas.microsoft.com/office/drawing/2014/main" id="{2522184C-9031-361D-043C-DC18D0EFE8E9}"/>
              </a:ext>
            </a:extLst>
          </p:cNvPr>
          <p:cNvSpPr/>
          <p:nvPr/>
        </p:nvSpPr>
        <p:spPr>
          <a:xfrm>
            <a:off x="6004559" y="4424836"/>
            <a:ext cx="182880" cy="2711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חץ: למטה 28">
            <a:extLst>
              <a:ext uri="{FF2B5EF4-FFF2-40B4-BE49-F238E27FC236}">
                <a16:creationId xmlns:a16="http://schemas.microsoft.com/office/drawing/2014/main" id="{3686FD88-46FF-328C-10FD-CACF307608F8}"/>
              </a:ext>
            </a:extLst>
          </p:cNvPr>
          <p:cNvSpPr/>
          <p:nvPr/>
        </p:nvSpPr>
        <p:spPr>
          <a:xfrm>
            <a:off x="5997100" y="5469347"/>
            <a:ext cx="182880" cy="2711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Google Shape;121;p16">
            <a:extLst>
              <a:ext uri="{FF2B5EF4-FFF2-40B4-BE49-F238E27FC236}">
                <a16:creationId xmlns:a16="http://schemas.microsoft.com/office/drawing/2014/main" id="{12687E95-911B-ECB8-E62D-9CEBB12A685D}"/>
              </a:ext>
            </a:extLst>
          </p:cNvPr>
          <p:cNvSpPr txBox="1"/>
          <p:nvPr/>
        </p:nvSpPr>
        <p:spPr>
          <a:xfrm>
            <a:off x="3605772" y="2508402"/>
            <a:ext cx="4970700"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dirty="0">
                <a:solidFill>
                  <a:srgbClr val="06B6D4"/>
                </a:solidFill>
                <a:latin typeface="Rubik"/>
                <a:ea typeface="Rubik"/>
                <a:cs typeface="Rubik"/>
                <a:sym typeface="Rubik"/>
              </a:rPr>
              <a:t>Pipeline</a:t>
            </a:r>
            <a:endParaRPr sz="2000" dirty="0"/>
          </a:p>
        </p:txBody>
      </p:sp>
      <p:pic>
        <p:nvPicPr>
          <p:cNvPr id="14" name="Google Shape;115;p16" descr="image.png">
            <a:extLst>
              <a:ext uri="{FF2B5EF4-FFF2-40B4-BE49-F238E27FC236}">
                <a16:creationId xmlns:a16="http://schemas.microsoft.com/office/drawing/2014/main" id="{FC404532-4004-EF31-4CF6-FB495DDD1473}"/>
              </a:ext>
            </a:extLst>
          </p:cNvPr>
          <p:cNvPicPr preferRelativeResize="0"/>
          <p:nvPr/>
        </p:nvPicPr>
        <p:blipFill rotWithShape="1">
          <a:blip r:embed="rId3">
            <a:alphaModFix/>
          </a:blip>
          <a:srcRect/>
          <a:stretch/>
        </p:blipFill>
        <p:spPr>
          <a:xfrm>
            <a:off x="2807610" y="3111460"/>
            <a:ext cx="6561860" cy="523494"/>
          </a:xfrm>
          <a:prstGeom prst="rect">
            <a:avLst/>
          </a:prstGeom>
          <a:noFill/>
          <a:ln>
            <a:noFill/>
          </a:ln>
        </p:spPr>
      </p:pic>
      <p:sp>
        <p:nvSpPr>
          <p:cNvPr id="6" name="תיבת טקסט 5">
            <a:extLst>
              <a:ext uri="{FF2B5EF4-FFF2-40B4-BE49-F238E27FC236}">
                <a16:creationId xmlns:a16="http://schemas.microsoft.com/office/drawing/2014/main" id="{C7B462EC-B1FE-9BBF-7742-991630D84F99}"/>
              </a:ext>
            </a:extLst>
          </p:cNvPr>
          <p:cNvSpPr txBox="1"/>
          <p:nvPr/>
        </p:nvSpPr>
        <p:spPr>
          <a:xfrm>
            <a:off x="4990323" y="3348281"/>
            <a:ext cx="2196434" cy="276999"/>
          </a:xfrm>
          <a:prstGeom prst="rect">
            <a:avLst/>
          </a:prstGeom>
          <a:noFill/>
        </p:spPr>
        <p:txBody>
          <a:bodyPr wrap="none" rtlCol="0">
            <a:spAutoFit/>
          </a:bodyPr>
          <a:lstStyle/>
          <a:p>
            <a:pPr algn="r" rtl="1"/>
            <a:r>
              <a:rPr lang="he-IL" sz="1200" dirty="0">
                <a:solidFill>
                  <a:schemeClr val="lt1"/>
                </a:solidFill>
                <a:highlight>
                  <a:srgbClr val="22262B"/>
                </a:highlight>
                <a:latin typeface="Rubik" panose="020B0604020202020204" charset="-79"/>
                <a:cs typeface="Rubik" panose="020B0604020202020204" charset="-79"/>
              </a:rPr>
              <a:t>ניקוי נתונים, </a:t>
            </a:r>
            <a:r>
              <a:rPr lang="en-US" sz="1200" dirty="0">
                <a:solidFill>
                  <a:schemeClr val="lt1"/>
                </a:solidFill>
                <a:highlight>
                  <a:srgbClr val="22262B"/>
                </a:highlight>
                <a:latin typeface="Rubik" panose="020B0604020202020204" charset="-79"/>
                <a:cs typeface="Rubik" panose="020B0604020202020204" charset="-79"/>
              </a:rPr>
              <a:t>EDA</a:t>
            </a:r>
            <a:r>
              <a:rPr lang="he-IL" sz="1200" dirty="0">
                <a:solidFill>
                  <a:schemeClr val="lt1"/>
                </a:solidFill>
                <a:highlight>
                  <a:srgbClr val="22262B"/>
                </a:highlight>
                <a:latin typeface="Rubik" panose="020B0604020202020204" charset="-79"/>
                <a:cs typeface="Rubik" panose="020B0604020202020204" charset="-79"/>
              </a:rPr>
              <a:t> והגדרת תוויות.</a:t>
            </a:r>
          </a:p>
        </p:txBody>
      </p:sp>
      <p:sp>
        <p:nvSpPr>
          <p:cNvPr id="121" name="Google Shape;121;p16"/>
          <p:cNvSpPr txBox="1"/>
          <p:nvPr/>
        </p:nvSpPr>
        <p:spPr>
          <a:xfrm>
            <a:off x="3610654" y="3120028"/>
            <a:ext cx="49707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Processing</a:t>
            </a:r>
            <a:endParaRPr dirty="0"/>
          </a:p>
        </p:txBody>
      </p:sp>
      <p:pic>
        <p:nvPicPr>
          <p:cNvPr id="20" name="Google Shape;115;p16" descr="image.png">
            <a:extLst>
              <a:ext uri="{FF2B5EF4-FFF2-40B4-BE49-F238E27FC236}">
                <a16:creationId xmlns:a16="http://schemas.microsoft.com/office/drawing/2014/main" id="{242ABF60-9C08-C290-A03C-02A894C58417}"/>
              </a:ext>
            </a:extLst>
          </p:cNvPr>
          <p:cNvPicPr preferRelativeResize="0"/>
          <p:nvPr/>
        </p:nvPicPr>
        <p:blipFill rotWithShape="1">
          <a:blip r:embed="rId3">
            <a:alphaModFix/>
          </a:blip>
          <a:srcRect/>
          <a:stretch/>
        </p:blipFill>
        <p:spPr>
          <a:xfrm>
            <a:off x="2807610" y="3915304"/>
            <a:ext cx="6561860" cy="523494"/>
          </a:xfrm>
          <a:prstGeom prst="rect">
            <a:avLst/>
          </a:prstGeom>
          <a:noFill/>
          <a:ln>
            <a:noFill/>
          </a:ln>
        </p:spPr>
      </p:pic>
      <p:sp>
        <p:nvSpPr>
          <p:cNvPr id="24" name="חץ: למטה 23">
            <a:extLst>
              <a:ext uri="{FF2B5EF4-FFF2-40B4-BE49-F238E27FC236}">
                <a16:creationId xmlns:a16="http://schemas.microsoft.com/office/drawing/2014/main" id="{72F7849F-83EE-6439-DB21-759A523C1808}"/>
              </a:ext>
            </a:extLst>
          </p:cNvPr>
          <p:cNvSpPr/>
          <p:nvPr/>
        </p:nvSpPr>
        <p:spPr>
          <a:xfrm>
            <a:off x="6004560" y="3629544"/>
            <a:ext cx="182880" cy="2711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2" name="Google Shape;122;p16"/>
          <p:cNvSpPr txBox="1"/>
          <p:nvPr/>
        </p:nvSpPr>
        <p:spPr>
          <a:xfrm>
            <a:off x="3610654" y="3918324"/>
            <a:ext cx="49707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Feature Engineering</a:t>
            </a:r>
            <a:endParaRPr dirty="0"/>
          </a:p>
        </p:txBody>
      </p:sp>
      <p:sp>
        <p:nvSpPr>
          <p:cNvPr id="8" name="תיבת טקסט 7">
            <a:extLst>
              <a:ext uri="{FF2B5EF4-FFF2-40B4-BE49-F238E27FC236}">
                <a16:creationId xmlns:a16="http://schemas.microsoft.com/office/drawing/2014/main" id="{A0A6DAB0-E368-1570-EE42-B4AF3536F458}"/>
              </a:ext>
            </a:extLst>
          </p:cNvPr>
          <p:cNvSpPr txBox="1"/>
          <p:nvPr/>
        </p:nvSpPr>
        <p:spPr>
          <a:xfrm>
            <a:off x="4473355" y="4183540"/>
            <a:ext cx="3230373" cy="461665"/>
          </a:xfrm>
          <a:prstGeom prst="rect">
            <a:avLst/>
          </a:prstGeom>
          <a:noFill/>
        </p:spPr>
        <p:txBody>
          <a:bodyPr wrap="none" rtlCol="0">
            <a:spAutoFit/>
          </a:bodyPr>
          <a:lstStyle/>
          <a:p>
            <a:pPr algn="ctr" rtl="1"/>
            <a:r>
              <a:rPr lang="he-IL" sz="1200" dirty="0">
                <a:solidFill>
                  <a:schemeClr val="lt1"/>
                </a:solidFill>
                <a:highlight>
                  <a:srgbClr val="22262B"/>
                </a:highlight>
                <a:latin typeface="Rubik" panose="020B0604020202020204" charset="-79"/>
                <a:cs typeface="Rubik" panose="020B0604020202020204" charset="-79"/>
              </a:rPr>
              <a:t>הפקת מאפיינים סמויים באמצעות עם ובלי</a:t>
            </a:r>
            <a:r>
              <a:rPr lang="en-US" sz="1200" dirty="0">
                <a:solidFill>
                  <a:schemeClr val="lt1"/>
                </a:solidFill>
                <a:highlight>
                  <a:srgbClr val="22262B"/>
                </a:highlight>
                <a:latin typeface="Rubik" panose="020B0604020202020204" charset="-79"/>
                <a:cs typeface="Rubik" panose="020B0604020202020204" charset="-79"/>
              </a:rPr>
              <a:t> </a:t>
            </a:r>
            <a:r>
              <a:rPr lang="en-US" sz="1200" dirty="0" err="1">
                <a:solidFill>
                  <a:schemeClr val="lt1"/>
                </a:solidFill>
                <a:highlight>
                  <a:srgbClr val="22262B"/>
                </a:highlight>
                <a:latin typeface="Rubik" panose="020B0604020202020204" charset="-79"/>
                <a:cs typeface="Rubik" panose="020B0604020202020204" charset="-79"/>
              </a:rPr>
              <a:t>GMM</a:t>
            </a:r>
            <a:r>
              <a:rPr lang="en-US" sz="1200" dirty="0">
                <a:solidFill>
                  <a:schemeClr val="lt1"/>
                </a:solidFill>
                <a:highlight>
                  <a:srgbClr val="22262B"/>
                </a:highlight>
                <a:latin typeface="Rubik" panose="020B0604020202020204" charset="-79"/>
                <a:cs typeface="Rubik" panose="020B0604020202020204" charset="-79"/>
              </a:rPr>
              <a:t> </a:t>
            </a:r>
            <a:r>
              <a:rPr lang="he-IL" sz="1200" dirty="0">
                <a:solidFill>
                  <a:schemeClr val="lt1"/>
                </a:solidFill>
                <a:highlight>
                  <a:srgbClr val="22262B"/>
                </a:highlight>
                <a:latin typeface="Rubik" panose="020B0604020202020204" charset="-79"/>
                <a:cs typeface="Rubik" panose="020B0604020202020204" charset="-79"/>
              </a:rPr>
              <a:t>.</a:t>
            </a:r>
            <a:endParaRPr lang="he-IL" sz="1200" dirty="0">
              <a:solidFill>
                <a:schemeClr val="lt1"/>
              </a:solidFill>
              <a:latin typeface="Rubik" panose="020B0604020202020204" charset="-79"/>
              <a:cs typeface="Rubik" panose="020B0604020202020204" charset="-79"/>
            </a:endParaRPr>
          </a:p>
          <a:p>
            <a:pPr algn="ctr"/>
            <a:endParaRPr lang="en-IL" sz="1200" dirty="0">
              <a:latin typeface="Rubik" panose="020B0604020202020204" charset="-79"/>
              <a:cs typeface="Rubik" panose="020B0604020202020204" charset="-79"/>
            </a:endParaRPr>
          </a:p>
        </p:txBody>
      </p:sp>
      <p:pic>
        <p:nvPicPr>
          <p:cNvPr id="28" name="Google Shape;115;p16" descr="image.png">
            <a:extLst>
              <a:ext uri="{FF2B5EF4-FFF2-40B4-BE49-F238E27FC236}">
                <a16:creationId xmlns:a16="http://schemas.microsoft.com/office/drawing/2014/main" id="{7C367D64-E953-1713-CC7C-3C82F8344BE9}"/>
              </a:ext>
            </a:extLst>
          </p:cNvPr>
          <p:cNvPicPr preferRelativeResize="0"/>
          <p:nvPr/>
        </p:nvPicPr>
        <p:blipFill rotWithShape="1">
          <a:blip r:embed="rId3">
            <a:alphaModFix/>
          </a:blip>
          <a:srcRect/>
          <a:stretch/>
        </p:blipFill>
        <p:spPr>
          <a:xfrm>
            <a:off x="2815069" y="4704014"/>
            <a:ext cx="6561860" cy="523494"/>
          </a:xfrm>
          <a:prstGeom prst="rect">
            <a:avLst/>
          </a:prstGeom>
          <a:noFill/>
          <a:ln>
            <a:noFill/>
          </a:ln>
        </p:spPr>
      </p:pic>
      <p:sp>
        <p:nvSpPr>
          <p:cNvPr id="123" name="Google Shape;123;p16"/>
          <p:cNvSpPr txBox="1"/>
          <p:nvPr/>
        </p:nvSpPr>
        <p:spPr>
          <a:xfrm>
            <a:off x="3603189" y="4685920"/>
            <a:ext cx="49707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Modeling</a:t>
            </a:r>
            <a:endParaRPr dirty="0"/>
          </a:p>
        </p:txBody>
      </p:sp>
      <p:sp>
        <p:nvSpPr>
          <p:cNvPr id="11" name="תיבת טקסט 10">
            <a:extLst>
              <a:ext uri="{FF2B5EF4-FFF2-40B4-BE49-F238E27FC236}">
                <a16:creationId xmlns:a16="http://schemas.microsoft.com/office/drawing/2014/main" id="{0698C22E-A602-B84D-1AB4-48C852EE000D}"/>
              </a:ext>
            </a:extLst>
          </p:cNvPr>
          <p:cNvSpPr txBox="1"/>
          <p:nvPr/>
        </p:nvSpPr>
        <p:spPr>
          <a:xfrm>
            <a:off x="4006883" y="4910421"/>
            <a:ext cx="4163320" cy="307777"/>
          </a:xfrm>
          <a:prstGeom prst="rect">
            <a:avLst/>
          </a:prstGeom>
          <a:noFill/>
        </p:spPr>
        <p:txBody>
          <a:bodyPr wrap="none" rtlCol="0">
            <a:spAutoFit/>
          </a:bodyPr>
          <a:lstStyle/>
          <a:p>
            <a:pPr algn="ctr" rtl="1"/>
            <a:r>
              <a:rPr lang="he-IL" dirty="0">
                <a:solidFill>
                  <a:schemeClr val="lt1"/>
                </a:solidFill>
                <a:highlight>
                  <a:srgbClr val="22262B"/>
                </a:highlight>
                <a:latin typeface="Rubik" panose="020B0604020202020204" charset="-79"/>
                <a:cs typeface="Rubik" panose="020B0604020202020204" charset="-79"/>
              </a:rPr>
              <a:t>הרצת מודל הסיווג מודל הנבחר</a:t>
            </a:r>
            <a:r>
              <a:rPr lang="en-US" dirty="0">
                <a:solidFill>
                  <a:schemeClr val="lt1"/>
                </a:solidFill>
                <a:highlight>
                  <a:srgbClr val="22262B"/>
                </a:highlight>
                <a:latin typeface="Rubik" panose="020B0604020202020204" charset="-79"/>
                <a:cs typeface="Rubik" panose="020B0604020202020204" charset="-79"/>
              </a:rPr>
              <a:t> (Gradient Boosting)</a:t>
            </a:r>
            <a:r>
              <a:rPr lang="he-IL" dirty="0">
                <a:solidFill>
                  <a:schemeClr val="lt1"/>
                </a:solidFill>
                <a:highlight>
                  <a:srgbClr val="22262B"/>
                </a:highlight>
                <a:latin typeface="Rubik" panose="020B0604020202020204" charset="-79"/>
                <a:cs typeface="Rubik" panose="020B0604020202020204" charset="-79"/>
              </a:rPr>
              <a:t>.</a:t>
            </a:r>
            <a:endParaRPr lang="en-IL" dirty="0">
              <a:latin typeface="Rubik" panose="020B0604020202020204" charset="-79"/>
              <a:cs typeface="Rubik" panose="020B0604020202020204" charset="-79"/>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32"/>
        <p:cNvGrpSpPr/>
        <p:nvPr/>
      </p:nvGrpSpPr>
      <p:grpSpPr>
        <a:xfrm>
          <a:off x="0" y="0"/>
          <a:ext cx="0" cy="0"/>
          <a:chOff x="0" y="0"/>
          <a:chExt cx="0" cy="0"/>
        </a:xfrm>
      </p:grpSpPr>
      <p:pic>
        <p:nvPicPr>
          <p:cNvPr id="5" name="Google Shape;135;p17" descr="image.png">
            <a:extLst>
              <a:ext uri="{FF2B5EF4-FFF2-40B4-BE49-F238E27FC236}">
                <a16:creationId xmlns:a16="http://schemas.microsoft.com/office/drawing/2014/main" id="{FE98A92B-4306-B0F5-EC5E-E72BAD6F8170}"/>
              </a:ext>
            </a:extLst>
          </p:cNvPr>
          <p:cNvPicPr preferRelativeResize="0"/>
          <p:nvPr/>
        </p:nvPicPr>
        <p:blipFill rotWithShape="1">
          <a:blip r:embed="rId4">
            <a:alphaModFix/>
          </a:blip>
          <a:srcRect/>
          <a:stretch/>
        </p:blipFill>
        <p:spPr>
          <a:xfrm>
            <a:off x="670562" y="1439981"/>
            <a:ext cx="3055511" cy="3611775"/>
          </a:xfrm>
          <a:prstGeom prst="rect">
            <a:avLst/>
          </a:prstGeom>
          <a:noFill/>
          <a:ln>
            <a:noFill/>
          </a:ln>
        </p:spPr>
      </p:pic>
      <p:pic>
        <p:nvPicPr>
          <p:cNvPr id="3" name="Google Shape;135;p17" descr="image.png">
            <a:extLst>
              <a:ext uri="{FF2B5EF4-FFF2-40B4-BE49-F238E27FC236}">
                <a16:creationId xmlns:a16="http://schemas.microsoft.com/office/drawing/2014/main" id="{AEDFA317-7EB2-17D5-EF55-5D6D46017A56}"/>
              </a:ext>
            </a:extLst>
          </p:cNvPr>
          <p:cNvPicPr preferRelativeResize="0"/>
          <p:nvPr/>
        </p:nvPicPr>
        <p:blipFill rotWithShape="1">
          <a:blip r:embed="rId4">
            <a:alphaModFix/>
          </a:blip>
          <a:srcRect/>
          <a:stretch/>
        </p:blipFill>
        <p:spPr>
          <a:xfrm>
            <a:off x="4287521" y="1425657"/>
            <a:ext cx="3055511" cy="3587699"/>
          </a:xfrm>
          <a:prstGeom prst="rect">
            <a:avLst/>
          </a:prstGeom>
          <a:noFill/>
          <a:ln>
            <a:noFill/>
          </a:ln>
        </p:spPr>
      </p:pic>
      <p:pic>
        <p:nvPicPr>
          <p:cNvPr id="135" name="Google Shape;135;p17" descr="image.png"/>
          <p:cNvPicPr preferRelativeResize="0"/>
          <p:nvPr/>
        </p:nvPicPr>
        <p:blipFill rotWithShape="1">
          <a:blip r:embed="rId4">
            <a:alphaModFix/>
          </a:blip>
          <a:srcRect/>
          <a:stretch/>
        </p:blipFill>
        <p:spPr>
          <a:xfrm>
            <a:off x="7904480" y="1419662"/>
            <a:ext cx="3055511" cy="3587698"/>
          </a:xfrm>
          <a:prstGeom prst="rect">
            <a:avLst/>
          </a:prstGeom>
          <a:noFill/>
          <a:ln>
            <a:noFill/>
          </a:ln>
        </p:spPr>
      </p:pic>
      <p:sp>
        <p:nvSpPr>
          <p:cNvPr id="133" name="Google Shape;133;p17"/>
          <p:cNvSpPr txBox="1"/>
          <p:nvPr/>
        </p:nvSpPr>
        <p:spPr>
          <a:xfrm>
            <a:off x="559725" y="464719"/>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dirty="0">
                <a:solidFill>
                  <a:srgbClr val="F8FAFC"/>
                </a:solidFill>
                <a:latin typeface="Rubik SemiBold"/>
                <a:ea typeface="Rubik SemiBold"/>
                <a:cs typeface="Rubik SemiBold"/>
                <a:sym typeface="Rubik SemiBold"/>
              </a:rPr>
              <a:t>Data Processing</a:t>
            </a:r>
            <a:endParaRPr dirty="0"/>
          </a:p>
        </p:txBody>
      </p:sp>
      <p:sp>
        <p:nvSpPr>
          <p:cNvPr id="134" name="Google Shape;134;p17"/>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Google Shape;136;p17">
            <a:extLst>
              <a:ext uri="{FF2B5EF4-FFF2-40B4-BE49-F238E27FC236}">
                <a16:creationId xmlns:a16="http://schemas.microsoft.com/office/drawing/2014/main" id="{55D7F3CB-273D-4D8A-48C7-D8F8FAC20A8F}"/>
              </a:ext>
            </a:extLst>
          </p:cNvPr>
          <p:cNvSpPr txBox="1"/>
          <p:nvPr/>
        </p:nvSpPr>
        <p:spPr>
          <a:xfrm>
            <a:off x="8509599" y="1515999"/>
            <a:ext cx="1743674"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ea typeface="Rubik"/>
                <a:cs typeface="Rubik"/>
                <a:sym typeface="Rubik"/>
              </a:rPr>
              <a:t>Data Source </a:t>
            </a:r>
            <a:endParaRPr dirty="0"/>
          </a:p>
        </p:txBody>
      </p:sp>
      <p:sp>
        <p:nvSpPr>
          <p:cNvPr id="9" name="Google Shape;137;p17">
            <a:extLst>
              <a:ext uri="{FF2B5EF4-FFF2-40B4-BE49-F238E27FC236}">
                <a16:creationId xmlns:a16="http://schemas.microsoft.com/office/drawing/2014/main" id="{FD77D843-14DB-D460-5BAE-3352062FF736}"/>
              </a:ext>
            </a:extLst>
          </p:cNvPr>
          <p:cNvSpPr txBox="1"/>
          <p:nvPr/>
        </p:nvSpPr>
        <p:spPr>
          <a:xfrm>
            <a:off x="7977981" y="1792998"/>
            <a:ext cx="2806910" cy="2757678"/>
          </a:xfrm>
          <a:prstGeom prst="rect">
            <a:avLst/>
          </a:prstGeom>
          <a:noFill/>
          <a:ln>
            <a:noFill/>
          </a:ln>
        </p:spPr>
        <p:txBody>
          <a:bodyPr spcFirstLastPara="1" wrap="square" lIns="0" tIns="0" rIns="0" bIns="0" anchor="t" anchorCtr="0">
            <a:spAutoFit/>
          </a:bodyPr>
          <a:lstStyle/>
          <a:p>
            <a:pPr algn="r" rtl="1">
              <a:lnSpc>
                <a:spcPct val="160000"/>
              </a:lnSpc>
              <a:buClr>
                <a:schemeClr val="bg1"/>
              </a:buClr>
            </a:pPr>
            <a:r>
              <a:rPr lang="he-IL" b="1" dirty="0">
                <a:solidFill>
                  <a:srgbClr val="CBD5E1"/>
                </a:solidFill>
                <a:latin typeface="Rubik"/>
                <a:ea typeface="Rubik"/>
                <a:cs typeface="Rubik"/>
                <a:sym typeface="Rubik"/>
              </a:rPr>
              <a:t>מקור הנתונים הוא הסקר החברתי של </a:t>
            </a:r>
            <a:r>
              <a:rPr lang="he-IL" b="1" dirty="0" err="1">
                <a:solidFill>
                  <a:srgbClr val="CBD5E1"/>
                </a:solidFill>
                <a:latin typeface="Rubik"/>
                <a:ea typeface="Rubik"/>
                <a:cs typeface="Rubik"/>
                <a:sym typeface="Rubik"/>
              </a:rPr>
              <a:t>הלמ"ס</a:t>
            </a:r>
            <a:r>
              <a:rPr lang="he-IL" b="1" dirty="0">
                <a:solidFill>
                  <a:srgbClr val="CBD5E1"/>
                </a:solidFill>
                <a:latin typeface="Rubik"/>
                <a:ea typeface="Rubik"/>
                <a:cs typeface="Rubik"/>
                <a:sym typeface="Rubik"/>
              </a:rPr>
              <a:t> לשנת 2024, המאורגן בטבלאות נתונים הכוללות עשרות אלפי תצפיות וקשרים מובנים:</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6907 משיבים</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מאות משתנים הכוללים: נתונים דמוגרפיים חברתיים וכלכליים</a:t>
            </a:r>
            <a:endParaRPr lang="en-US" b="1" dirty="0">
              <a:solidFill>
                <a:srgbClr val="CBD5E1"/>
              </a:solidFill>
              <a:latin typeface="Rubik"/>
              <a:ea typeface="Rubik"/>
              <a:cs typeface="Rubik"/>
              <a:sym typeface="Rubik"/>
            </a:endParaRPr>
          </a:p>
          <a:p>
            <a:pPr marL="171450" indent="-171450" algn="r" rtl="1">
              <a:lnSpc>
                <a:spcPct val="160000"/>
              </a:lnSpc>
              <a:buClr>
                <a:schemeClr val="bg1"/>
              </a:buClr>
              <a:buFont typeface="Arial" panose="020B0604020202020204" pitchFamily="34" charset="0"/>
              <a:buChar char="•"/>
            </a:pPr>
            <a:endParaRPr lang="en-US" b="1" dirty="0">
              <a:solidFill>
                <a:srgbClr val="CBD5E1"/>
              </a:solidFill>
              <a:latin typeface="Rubik"/>
              <a:ea typeface="Rubik"/>
              <a:cs typeface="Rubik"/>
              <a:sym typeface="Rubik"/>
            </a:endParaRPr>
          </a:p>
        </p:txBody>
      </p:sp>
      <p:sp>
        <p:nvSpPr>
          <p:cNvPr id="11" name="Google Shape;136;p17">
            <a:extLst>
              <a:ext uri="{FF2B5EF4-FFF2-40B4-BE49-F238E27FC236}">
                <a16:creationId xmlns:a16="http://schemas.microsoft.com/office/drawing/2014/main" id="{2087AC66-B013-17DA-D0C1-4DAB8E3CAC3F}"/>
              </a:ext>
            </a:extLst>
          </p:cNvPr>
          <p:cNvSpPr txBox="1"/>
          <p:nvPr/>
        </p:nvSpPr>
        <p:spPr>
          <a:xfrm>
            <a:off x="4439920" y="1515999"/>
            <a:ext cx="2831343"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cs typeface="Rubik"/>
                <a:sym typeface="Rubik"/>
              </a:rPr>
              <a:t>Target Variable</a:t>
            </a:r>
            <a:endParaRPr dirty="0"/>
          </a:p>
        </p:txBody>
      </p:sp>
      <p:sp>
        <p:nvSpPr>
          <p:cNvPr id="13" name="Google Shape;137;p17">
            <a:extLst>
              <a:ext uri="{FF2B5EF4-FFF2-40B4-BE49-F238E27FC236}">
                <a16:creationId xmlns:a16="http://schemas.microsoft.com/office/drawing/2014/main" id="{603E2AF0-E900-608D-3386-5D2DCA03660D}"/>
              </a:ext>
            </a:extLst>
          </p:cNvPr>
          <p:cNvSpPr txBox="1"/>
          <p:nvPr/>
        </p:nvSpPr>
        <p:spPr>
          <a:xfrm>
            <a:off x="4411821" y="1792997"/>
            <a:ext cx="2806910" cy="3447098"/>
          </a:xfrm>
          <a:prstGeom prst="rect">
            <a:avLst/>
          </a:prstGeom>
          <a:noFill/>
          <a:ln>
            <a:noFill/>
          </a:ln>
        </p:spPr>
        <p:txBody>
          <a:bodyPr spcFirstLastPara="1" wrap="square" lIns="0" tIns="0" rIns="0" bIns="0" anchor="t" anchorCtr="0">
            <a:spAutoFit/>
          </a:bodyPr>
          <a:lstStyle/>
          <a:p>
            <a:pPr algn="r" rtl="1">
              <a:lnSpc>
                <a:spcPct val="160000"/>
              </a:lnSpc>
              <a:buClr>
                <a:schemeClr val="bg1"/>
              </a:buClr>
            </a:pPr>
            <a:r>
              <a:rPr lang="he-IL" b="1" dirty="0">
                <a:solidFill>
                  <a:srgbClr val="CBD5E1"/>
                </a:solidFill>
                <a:latin typeface="Rubik"/>
                <a:ea typeface="Rubik"/>
                <a:cs typeface="Rubik"/>
                <a:sym typeface="Rubik"/>
              </a:rPr>
              <a:t>בסקר לא קיים משתנה לפגיעות פיננסית. לכן פותח מדד </a:t>
            </a:r>
            <a:r>
              <a:rPr lang="en-US" b="1" dirty="0">
                <a:solidFill>
                  <a:srgbClr val="CBD5E1"/>
                </a:solidFill>
                <a:latin typeface="Rubik"/>
                <a:ea typeface="Rubik"/>
                <a:cs typeface="Rubik"/>
                <a:sym typeface="Rubik"/>
              </a:rPr>
              <a:t>Risk Index</a:t>
            </a:r>
            <a:r>
              <a:rPr lang="he-IL" b="1" dirty="0">
                <a:solidFill>
                  <a:srgbClr val="CBD5E1"/>
                </a:solidFill>
                <a:latin typeface="Rubik"/>
                <a:ea typeface="Rubik"/>
                <a:cs typeface="Rubik"/>
                <a:sym typeface="Rubik"/>
              </a:rPr>
              <a:t> המבוסס על 8 אינדיקטורים שקיימים בסקר ומתקשרים לפגיעות פיננסית כגון: ויתור על שירותים וטיפולים, קשיים בכיסוי הוצאות ועוד. </a:t>
            </a:r>
          </a:p>
          <a:p>
            <a:pPr algn="r" rtl="1">
              <a:lnSpc>
                <a:spcPct val="160000"/>
              </a:lnSpc>
              <a:buClr>
                <a:schemeClr val="bg1"/>
              </a:buClr>
            </a:pPr>
            <a:r>
              <a:rPr lang="he-IL" b="1" dirty="0">
                <a:solidFill>
                  <a:srgbClr val="CBD5E1"/>
                </a:solidFill>
                <a:latin typeface="Rubik"/>
                <a:ea typeface="Rubik"/>
                <a:cs typeface="Rubik"/>
                <a:sym typeface="Rubik"/>
              </a:rPr>
              <a:t>משיב שמתן תשובה חיובית ב-3 אינדיקטורים ומעלה סומן כפגיע פיננסית. </a:t>
            </a:r>
          </a:p>
          <a:p>
            <a:pPr algn="r" rtl="1">
              <a:lnSpc>
                <a:spcPct val="160000"/>
              </a:lnSpc>
              <a:buClr>
                <a:schemeClr val="bg1"/>
              </a:buClr>
            </a:pPr>
            <a:endParaRPr lang="he-IL" b="1" dirty="0">
              <a:solidFill>
                <a:srgbClr val="CBD5E1"/>
              </a:solidFill>
              <a:latin typeface="Rubik"/>
              <a:ea typeface="Rubik"/>
              <a:cs typeface="Rubik"/>
              <a:sym typeface="Rubik"/>
            </a:endParaRPr>
          </a:p>
        </p:txBody>
      </p:sp>
      <p:sp>
        <p:nvSpPr>
          <p:cNvPr id="4" name="Google Shape;136;p17">
            <a:extLst>
              <a:ext uri="{FF2B5EF4-FFF2-40B4-BE49-F238E27FC236}">
                <a16:creationId xmlns:a16="http://schemas.microsoft.com/office/drawing/2014/main" id="{7775708B-02F4-75F7-A752-FB3A58137339}"/>
              </a:ext>
            </a:extLst>
          </p:cNvPr>
          <p:cNvSpPr txBox="1"/>
          <p:nvPr/>
        </p:nvSpPr>
        <p:spPr>
          <a:xfrm>
            <a:off x="782645" y="1515999"/>
            <a:ext cx="2831343"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06B6D4"/>
                </a:solidFill>
                <a:latin typeface="Rubik"/>
                <a:cs typeface="Rubik"/>
                <a:sym typeface="Rubik"/>
              </a:rPr>
              <a:t>Feature Engineering</a:t>
            </a:r>
            <a:endParaRPr dirty="0"/>
          </a:p>
        </p:txBody>
      </p:sp>
      <p:sp>
        <p:nvSpPr>
          <p:cNvPr id="8" name="Google Shape;137;p17">
            <a:extLst>
              <a:ext uri="{FF2B5EF4-FFF2-40B4-BE49-F238E27FC236}">
                <a16:creationId xmlns:a16="http://schemas.microsoft.com/office/drawing/2014/main" id="{7A94188A-B408-C471-43A5-C8E0BB098EEB}"/>
              </a:ext>
            </a:extLst>
          </p:cNvPr>
          <p:cNvSpPr txBox="1"/>
          <p:nvPr/>
        </p:nvSpPr>
        <p:spPr>
          <a:xfrm>
            <a:off x="782645" y="1792997"/>
            <a:ext cx="2806910" cy="3102388"/>
          </a:xfrm>
          <a:prstGeom prst="rect">
            <a:avLst/>
          </a:prstGeom>
          <a:noFill/>
          <a:ln>
            <a:noFill/>
          </a:ln>
        </p:spPr>
        <p:txBody>
          <a:bodyPr spcFirstLastPara="1" wrap="square" lIns="0" tIns="0" rIns="0" bIns="0" anchor="t" anchorCtr="0">
            <a:spAutoFit/>
          </a:bodyPr>
          <a:lstStyle/>
          <a:p>
            <a:pPr algn="r" rtl="1">
              <a:lnSpc>
                <a:spcPct val="160000"/>
              </a:lnSpc>
              <a:buClr>
                <a:schemeClr val="bg1"/>
              </a:buClr>
            </a:pPr>
            <a:r>
              <a:rPr lang="he-IL" b="1" dirty="0">
                <a:solidFill>
                  <a:srgbClr val="CBD5E1"/>
                </a:solidFill>
                <a:latin typeface="Rubik"/>
                <a:ea typeface="Rubik"/>
                <a:cs typeface="Rubik"/>
                <a:sym typeface="Rubik"/>
              </a:rPr>
              <a:t>על מנת להכין את הנתונים להרצת המודל נדרשו מספר צעדים:</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טיפול בערכים חסרים</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קידוד משתנים</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הורדת משתנים שמדדו את אותו הדבר</a:t>
            </a:r>
          </a:p>
          <a:p>
            <a:pPr marL="171450" indent="-171450" algn="r" rtl="1">
              <a:lnSpc>
                <a:spcPct val="160000"/>
              </a:lnSpc>
              <a:buClr>
                <a:schemeClr val="bg1"/>
              </a:buClr>
              <a:buFont typeface="Arial" panose="020B0604020202020204" pitchFamily="34" charset="0"/>
              <a:buChar char="•"/>
            </a:pPr>
            <a:r>
              <a:rPr lang="he-IL" b="1" dirty="0">
                <a:solidFill>
                  <a:srgbClr val="CBD5E1"/>
                </a:solidFill>
                <a:latin typeface="Rubik"/>
                <a:ea typeface="Rubik"/>
                <a:cs typeface="Rubik"/>
                <a:sym typeface="Rubik"/>
              </a:rPr>
              <a:t>הורדת משתנים שאין להם קשר עם משתנה המטרה ולכן יעמיסו על המודל</a:t>
            </a:r>
            <a:endParaRPr lang="en-US" b="1" dirty="0">
              <a:solidFill>
                <a:srgbClr val="CBD5E1"/>
              </a:solidFill>
              <a:latin typeface="Rubik"/>
              <a:ea typeface="Rubik"/>
              <a:cs typeface="Rubik"/>
              <a:sym typeface="Rubik"/>
            </a:endParaRP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41"/>
        <p:cNvGrpSpPr/>
        <p:nvPr/>
      </p:nvGrpSpPr>
      <p:grpSpPr>
        <a:xfrm>
          <a:off x="0" y="0"/>
          <a:ext cx="0" cy="0"/>
          <a:chOff x="0" y="0"/>
          <a:chExt cx="0" cy="0"/>
        </a:xfrm>
      </p:grpSpPr>
      <p:sp>
        <p:nvSpPr>
          <p:cNvPr id="142" name="Google Shape;142;p18"/>
          <p:cNvSpPr txBox="1"/>
          <p:nvPr/>
        </p:nvSpPr>
        <p:spPr>
          <a:xfrm>
            <a:off x="570300" y="576975"/>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dirty="0">
                <a:solidFill>
                  <a:srgbClr val="F8FAFC"/>
                </a:solidFill>
                <a:latin typeface="Rubik SemiBold"/>
                <a:ea typeface="Rubik SemiBold"/>
                <a:cs typeface="Rubik SemiBold"/>
                <a:sym typeface="Rubik SemiBold"/>
              </a:rPr>
              <a:t>Performance Metrics and Baseline Comparison</a:t>
            </a:r>
            <a:endParaRPr dirty="0"/>
          </a:p>
        </p:txBody>
      </p:sp>
      <p:sp>
        <p:nvSpPr>
          <p:cNvPr id="143" name="Google Shape;143;p18"/>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18" descr="image.png"/>
          <p:cNvPicPr preferRelativeResize="0"/>
          <p:nvPr/>
        </p:nvPicPr>
        <p:blipFill rotWithShape="1">
          <a:blip r:embed="rId3">
            <a:alphaModFix/>
          </a:blip>
          <a:srcRect/>
          <a:stretch/>
        </p:blipFill>
        <p:spPr>
          <a:xfrm>
            <a:off x="808074" y="2218820"/>
            <a:ext cx="10225869" cy="978725"/>
          </a:xfrm>
          <a:prstGeom prst="rect">
            <a:avLst/>
          </a:prstGeom>
          <a:noFill/>
          <a:ln>
            <a:noFill/>
          </a:ln>
        </p:spPr>
      </p:pic>
      <p:sp>
        <p:nvSpPr>
          <p:cNvPr id="145" name="Google Shape;145;p18"/>
          <p:cNvSpPr txBox="1"/>
          <p:nvPr/>
        </p:nvSpPr>
        <p:spPr>
          <a:xfrm>
            <a:off x="1770823" y="2282264"/>
            <a:ext cx="8000660" cy="276999"/>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sz="1800" b="1" dirty="0">
                <a:solidFill>
                  <a:srgbClr val="06B6D4"/>
                </a:solidFill>
                <a:latin typeface="Rubik"/>
                <a:ea typeface="Rubik"/>
                <a:cs typeface="Rubik"/>
                <a:sym typeface="Rubik"/>
              </a:rPr>
              <a:t>Model Performance Comparison: With vs. Without </a:t>
            </a:r>
            <a:r>
              <a:rPr lang="en-US" sz="1800" b="1" dirty="0" err="1">
                <a:solidFill>
                  <a:srgbClr val="06B6D4"/>
                </a:solidFill>
                <a:latin typeface="Rubik"/>
                <a:ea typeface="Rubik"/>
                <a:cs typeface="Rubik"/>
                <a:sym typeface="Rubik"/>
              </a:rPr>
              <a:t>GMM</a:t>
            </a:r>
            <a:endParaRPr dirty="0"/>
          </a:p>
        </p:txBody>
      </p:sp>
      <p:sp>
        <p:nvSpPr>
          <p:cNvPr id="5" name="תיבת טקסט 4">
            <a:extLst>
              <a:ext uri="{FF2B5EF4-FFF2-40B4-BE49-F238E27FC236}">
                <a16:creationId xmlns:a16="http://schemas.microsoft.com/office/drawing/2014/main" id="{D6189B49-F76D-E7C0-70B6-C1DBB3DB62D7}"/>
              </a:ext>
            </a:extLst>
          </p:cNvPr>
          <p:cNvSpPr txBox="1"/>
          <p:nvPr/>
        </p:nvSpPr>
        <p:spPr>
          <a:xfrm>
            <a:off x="808075" y="2603045"/>
            <a:ext cx="9830466" cy="523220"/>
          </a:xfrm>
          <a:prstGeom prst="rect">
            <a:avLst/>
          </a:prstGeom>
          <a:noFill/>
        </p:spPr>
        <p:txBody>
          <a:bodyPr wrap="square" rtlCol="0">
            <a:spAutoFit/>
          </a:bodyPr>
          <a:lstStyle/>
          <a:p>
            <a:pPr algn="ctr" rtl="1"/>
            <a:r>
              <a:rPr lang="he-IL" dirty="0">
                <a:solidFill>
                  <a:schemeClr val="lt1"/>
                </a:solidFill>
                <a:highlight>
                  <a:srgbClr val="22262B"/>
                </a:highlight>
                <a:latin typeface="Rubik" panose="020B0604020202020204" charset="-79"/>
                <a:cs typeface="Rubik" panose="020B0604020202020204" charset="-79"/>
              </a:rPr>
              <a:t>המדדים של כל המודלים שנבחנו (דיוק, </a:t>
            </a:r>
            <a:r>
              <a:rPr lang="en-US" dirty="0">
                <a:solidFill>
                  <a:schemeClr val="lt1"/>
                </a:solidFill>
                <a:highlight>
                  <a:srgbClr val="22262B"/>
                </a:highlight>
                <a:latin typeface="Rubik" panose="020B0604020202020204" charset="-79"/>
                <a:cs typeface="Rubik" panose="020B0604020202020204" charset="-79"/>
              </a:rPr>
              <a:t>Recall </a:t>
            </a:r>
            <a:r>
              <a:rPr lang="he-IL" dirty="0">
                <a:solidFill>
                  <a:schemeClr val="lt1"/>
                </a:solidFill>
                <a:highlight>
                  <a:srgbClr val="22262B"/>
                </a:highlight>
                <a:latin typeface="Rubik" panose="020B0604020202020204" charset="-79"/>
                <a:cs typeface="Rubik" panose="020B0604020202020204" charset="-79"/>
              </a:rPr>
              <a:t>ו-</a:t>
            </a:r>
            <a:r>
              <a:rPr lang="en-US" dirty="0" err="1">
                <a:solidFill>
                  <a:schemeClr val="lt1"/>
                </a:solidFill>
                <a:highlight>
                  <a:srgbClr val="22262B"/>
                </a:highlight>
                <a:latin typeface="Rubik" panose="020B0604020202020204" charset="-79"/>
                <a:cs typeface="Rubik" panose="020B0604020202020204" charset="-79"/>
              </a:rPr>
              <a:t>F1</a:t>
            </a:r>
            <a:r>
              <a:rPr lang="he-IL" dirty="0">
                <a:solidFill>
                  <a:schemeClr val="lt1"/>
                </a:solidFill>
                <a:highlight>
                  <a:srgbClr val="22262B"/>
                </a:highlight>
                <a:latin typeface="Rubik" panose="020B0604020202020204" charset="-79"/>
                <a:cs typeface="Rubik" panose="020B0604020202020204" charset="-79"/>
              </a:rPr>
              <a:t>) עם ובלי תכונות ה-</a:t>
            </a:r>
            <a:r>
              <a:rPr lang="en-US" dirty="0" err="1">
                <a:solidFill>
                  <a:schemeClr val="lt1"/>
                </a:solidFill>
                <a:highlight>
                  <a:srgbClr val="22262B"/>
                </a:highlight>
                <a:latin typeface="Rubik" panose="020B0604020202020204" charset="-79"/>
                <a:cs typeface="Rubik" panose="020B0604020202020204" charset="-79"/>
              </a:rPr>
              <a:t>GMM</a:t>
            </a:r>
            <a:r>
              <a:rPr lang="he-IL" dirty="0">
                <a:solidFill>
                  <a:schemeClr val="lt1"/>
                </a:solidFill>
                <a:highlight>
                  <a:srgbClr val="22262B"/>
                </a:highlight>
                <a:latin typeface="Rubik" panose="020B0604020202020204" charset="-79"/>
                <a:cs typeface="Rubik" panose="020B0604020202020204" charset="-79"/>
              </a:rPr>
              <a:t>. היא מאפשרת להראות שגרסה של</a:t>
            </a:r>
            <a:endParaRPr lang="en-US" dirty="0">
              <a:solidFill>
                <a:schemeClr val="lt1"/>
              </a:solidFill>
              <a:highlight>
                <a:srgbClr val="22262B"/>
              </a:highlight>
              <a:latin typeface="Rubik" panose="020B0604020202020204" charset="-79"/>
              <a:cs typeface="Rubik" panose="020B0604020202020204" charset="-79"/>
            </a:endParaRPr>
          </a:p>
          <a:p>
            <a:pPr algn="ctr" rtl="1"/>
            <a:r>
              <a:rPr lang="he-IL" dirty="0">
                <a:solidFill>
                  <a:schemeClr val="lt1"/>
                </a:solidFill>
                <a:highlight>
                  <a:srgbClr val="22262B"/>
                </a:highlight>
                <a:latin typeface="Rubik" panose="020B0604020202020204" charset="-79"/>
                <a:cs typeface="Rubik" panose="020B0604020202020204" charset="-79"/>
              </a:rPr>
              <a:t> </a:t>
            </a:r>
            <a:r>
              <a:rPr lang="en-US" dirty="0">
                <a:solidFill>
                  <a:schemeClr val="lt1"/>
                </a:solidFill>
                <a:highlight>
                  <a:srgbClr val="22262B"/>
                </a:highlight>
                <a:latin typeface="Rubik" panose="020B0604020202020204" charset="-79"/>
                <a:cs typeface="Rubik" panose="020B0604020202020204" charset="-79"/>
              </a:rPr>
              <a:t> Gradient Boosting</a:t>
            </a:r>
            <a:r>
              <a:rPr lang="he-IL" dirty="0">
                <a:solidFill>
                  <a:schemeClr val="lt1"/>
                </a:solidFill>
                <a:highlight>
                  <a:srgbClr val="22262B"/>
                </a:highlight>
                <a:latin typeface="Rubik" panose="020B0604020202020204" charset="-79"/>
                <a:cs typeface="Rubik" panose="020B0604020202020204" charset="-79"/>
              </a:rPr>
              <a:t>עם </a:t>
            </a:r>
            <a:r>
              <a:rPr lang="en-US" dirty="0" err="1">
                <a:solidFill>
                  <a:schemeClr val="lt1"/>
                </a:solidFill>
                <a:highlight>
                  <a:srgbClr val="22262B"/>
                </a:highlight>
                <a:latin typeface="Rubik" panose="020B0604020202020204" charset="-79"/>
                <a:cs typeface="Rubik" panose="020B0604020202020204" charset="-79"/>
              </a:rPr>
              <a:t>GMM</a:t>
            </a:r>
            <a:r>
              <a:rPr lang="he-IL" dirty="0">
                <a:solidFill>
                  <a:schemeClr val="lt1"/>
                </a:solidFill>
                <a:highlight>
                  <a:srgbClr val="22262B"/>
                </a:highlight>
                <a:latin typeface="Rubik" panose="020B0604020202020204" charset="-79"/>
                <a:cs typeface="Rubik" panose="020B0604020202020204" charset="-79"/>
              </a:rPr>
              <a:t> השיגה את התוצאות הטובות ביותר.</a:t>
            </a:r>
            <a:endParaRPr lang="en-IL" dirty="0">
              <a:latin typeface="Rubik" panose="020B0604020202020204" charset="-79"/>
              <a:cs typeface="Rubik" panose="020B0604020202020204" charset="-79"/>
            </a:endParaRPr>
          </a:p>
        </p:txBody>
      </p:sp>
      <p:pic>
        <p:nvPicPr>
          <p:cNvPr id="7" name="Google Shape;144;p18" descr="image.png">
            <a:extLst>
              <a:ext uri="{FF2B5EF4-FFF2-40B4-BE49-F238E27FC236}">
                <a16:creationId xmlns:a16="http://schemas.microsoft.com/office/drawing/2014/main" id="{37C8ED76-C107-24BF-8767-1AF6B87CE0EF}"/>
              </a:ext>
            </a:extLst>
          </p:cNvPr>
          <p:cNvPicPr preferRelativeResize="0"/>
          <p:nvPr/>
        </p:nvPicPr>
        <p:blipFill rotWithShape="1">
          <a:blip r:embed="rId3">
            <a:alphaModFix/>
          </a:blip>
          <a:srcRect/>
          <a:stretch/>
        </p:blipFill>
        <p:spPr>
          <a:xfrm>
            <a:off x="808074" y="3309453"/>
            <a:ext cx="10225869" cy="1145789"/>
          </a:xfrm>
          <a:prstGeom prst="rect">
            <a:avLst/>
          </a:prstGeom>
          <a:noFill/>
          <a:ln>
            <a:noFill/>
          </a:ln>
        </p:spPr>
      </p:pic>
      <p:sp>
        <p:nvSpPr>
          <p:cNvPr id="9" name="Google Shape;145;p18">
            <a:extLst>
              <a:ext uri="{FF2B5EF4-FFF2-40B4-BE49-F238E27FC236}">
                <a16:creationId xmlns:a16="http://schemas.microsoft.com/office/drawing/2014/main" id="{02BB0F6A-061D-288D-D544-380F3659FD6D}"/>
              </a:ext>
            </a:extLst>
          </p:cNvPr>
          <p:cNvSpPr txBox="1"/>
          <p:nvPr/>
        </p:nvSpPr>
        <p:spPr>
          <a:xfrm>
            <a:off x="1920678" y="3358620"/>
            <a:ext cx="8000660" cy="276999"/>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sz="1800" b="1" dirty="0">
                <a:solidFill>
                  <a:srgbClr val="06B6D4"/>
                </a:solidFill>
                <a:latin typeface="Rubik"/>
                <a:ea typeface="Rubik"/>
                <a:cs typeface="Rubik"/>
                <a:sym typeface="Rubik"/>
              </a:rPr>
              <a:t>Final Model Evaluation: Confusion Matrix, ROC, and PR Curves</a:t>
            </a:r>
            <a:endParaRPr dirty="0"/>
          </a:p>
        </p:txBody>
      </p:sp>
      <p:sp>
        <p:nvSpPr>
          <p:cNvPr id="11" name="תיבת טקסט 10">
            <a:extLst>
              <a:ext uri="{FF2B5EF4-FFF2-40B4-BE49-F238E27FC236}">
                <a16:creationId xmlns:a16="http://schemas.microsoft.com/office/drawing/2014/main" id="{80E81A71-16ED-AE79-2C00-92694944898A}"/>
              </a:ext>
            </a:extLst>
          </p:cNvPr>
          <p:cNvSpPr txBox="1"/>
          <p:nvPr/>
        </p:nvSpPr>
        <p:spPr>
          <a:xfrm>
            <a:off x="808074" y="3673283"/>
            <a:ext cx="9830466" cy="523220"/>
          </a:xfrm>
          <a:prstGeom prst="rect">
            <a:avLst/>
          </a:prstGeom>
          <a:noFill/>
        </p:spPr>
        <p:txBody>
          <a:bodyPr wrap="square" rtlCol="0">
            <a:spAutoFit/>
          </a:bodyPr>
          <a:lstStyle/>
          <a:p>
            <a:pPr algn="ctr" rtl="1"/>
            <a:r>
              <a:rPr lang="he-IL" dirty="0">
                <a:solidFill>
                  <a:schemeClr val="bg1"/>
                </a:solidFill>
                <a:highlight>
                  <a:srgbClr val="22262B"/>
                </a:highlight>
                <a:latin typeface="Rubik" panose="020B0604020202020204" charset="-79"/>
                <a:cs typeface="Rubik" panose="020B0604020202020204" charset="-79"/>
              </a:rPr>
              <a:t>תרשים זה כולל שלוש גרפיקות המשלימות אחת את השנייה: </a:t>
            </a:r>
            <a:r>
              <a:rPr lang="en-US" dirty="0">
                <a:solidFill>
                  <a:schemeClr val="bg1"/>
                </a:solidFill>
                <a:highlight>
                  <a:srgbClr val="22262B"/>
                </a:highlight>
                <a:latin typeface="Rubik" panose="020B0604020202020204" charset="-79"/>
                <a:cs typeface="Rubik" panose="020B0604020202020204" charset="-79"/>
              </a:rPr>
              <a:t>Confusion Matrix</a:t>
            </a:r>
            <a:r>
              <a:rPr lang="he-IL" dirty="0">
                <a:solidFill>
                  <a:schemeClr val="bg1"/>
                </a:solidFill>
                <a:highlight>
                  <a:srgbClr val="22262B"/>
                </a:highlight>
                <a:latin typeface="Rubik" panose="020B0604020202020204" charset="-79"/>
                <a:cs typeface="Rubik" panose="020B0604020202020204" charset="-79"/>
              </a:rPr>
              <a:t>, עקומות </a:t>
            </a:r>
            <a:r>
              <a:rPr lang="en-US" dirty="0">
                <a:solidFill>
                  <a:schemeClr val="bg1"/>
                </a:solidFill>
                <a:highlight>
                  <a:srgbClr val="22262B"/>
                </a:highlight>
                <a:latin typeface="Rubik" panose="020B0604020202020204" charset="-79"/>
                <a:cs typeface="Rubik" panose="020B0604020202020204" charset="-79"/>
              </a:rPr>
              <a:t>ROC Average</a:t>
            </a:r>
            <a:r>
              <a:rPr lang="he-IL" dirty="0">
                <a:solidFill>
                  <a:schemeClr val="bg1"/>
                </a:solidFill>
                <a:highlight>
                  <a:srgbClr val="22262B"/>
                </a:highlight>
                <a:latin typeface="Rubik" panose="020B0604020202020204" charset="-79"/>
                <a:cs typeface="Rubik" panose="020B0604020202020204" charset="-79"/>
              </a:rPr>
              <a:t> ו</a:t>
            </a:r>
            <a:r>
              <a:rPr lang="en-US" dirty="0">
                <a:solidFill>
                  <a:schemeClr val="bg1"/>
                </a:solidFill>
                <a:highlight>
                  <a:srgbClr val="22262B"/>
                </a:highlight>
                <a:latin typeface="Rubik" panose="020B0604020202020204" charset="-79"/>
                <a:cs typeface="Rubik" panose="020B0604020202020204" charset="-79"/>
              </a:rPr>
              <a:t>PR Curves-</a:t>
            </a:r>
            <a:br>
              <a:rPr lang="en-US" dirty="0">
                <a:solidFill>
                  <a:schemeClr val="bg1"/>
                </a:solidFill>
                <a:highlight>
                  <a:srgbClr val="22262B"/>
                </a:highlight>
                <a:latin typeface="Rubik" panose="020B0604020202020204" charset="-79"/>
                <a:cs typeface="Rubik" panose="020B0604020202020204" charset="-79"/>
              </a:rPr>
            </a:br>
            <a:r>
              <a:rPr lang="en-IL" dirty="0" err="1">
                <a:solidFill>
                  <a:schemeClr val="bg1"/>
                </a:solidFill>
                <a:highlight>
                  <a:srgbClr val="22262B"/>
                </a:highlight>
                <a:latin typeface="Rubik" panose="020B0604020202020204" charset="-79"/>
                <a:cs typeface="Rubik" panose="020B0604020202020204" charset="-79"/>
              </a:rPr>
              <a:t>של</a:t>
            </a:r>
            <a:r>
              <a:rPr lang="en-IL" dirty="0">
                <a:solidFill>
                  <a:schemeClr val="bg1"/>
                </a:solidFill>
                <a:highlight>
                  <a:srgbClr val="22262B"/>
                </a:highlight>
                <a:latin typeface="Rubik" panose="020B0604020202020204" charset="-79"/>
                <a:cs typeface="Rubik" panose="020B0604020202020204" charset="-79"/>
              </a:rPr>
              <a:t> 0.7914</a:t>
            </a:r>
            <a:r>
              <a:rPr lang="he-IL" dirty="0">
                <a:solidFill>
                  <a:schemeClr val="bg1"/>
                </a:solidFill>
                <a:latin typeface="Rubik" panose="020B0604020202020204" charset="-79"/>
                <a:cs typeface="Rubik" panose="020B0604020202020204" charset="-79"/>
              </a:rPr>
              <a:t> המעיד על יכולת הפרדה טובה של </a:t>
            </a:r>
            <a:r>
              <a:rPr lang="he-IL" dirty="0" err="1">
                <a:solidFill>
                  <a:schemeClr val="bg1"/>
                </a:solidFill>
                <a:latin typeface="Rubik" panose="020B0604020202020204" charset="-79"/>
                <a:cs typeface="Rubik" panose="020B0604020202020204" charset="-79"/>
              </a:rPr>
              <a:t>המודל</a:t>
            </a:r>
            <a:r>
              <a:rPr lang="he-IL" dirty="0" err="1">
                <a:solidFill>
                  <a:schemeClr val="bg1"/>
                </a:solidFill>
                <a:highlight>
                  <a:srgbClr val="22262B"/>
                </a:highlight>
                <a:latin typeface="Rubik" panose="020B0604020202020204" charset="-79"/>
                <a:cs typeface="Rubik" panose="020B0604020202020204" charset="-79"/>
              </a:rPr>
              <a:t>,ב</a:t>
            </a:r>
            <a:r>
              <a:rPr lang="he-IL" dirty="0">
                <a:solidFill>
                  <a:schemeClr val="bg1"/>
                </a:solidFill>
                <a:highlight>
                  <a:srgbClr val="22262B"/>
                </a:highlight>
                <a:latin typeface="Rubik" panose="020B0604020202020204" charset="-79"/>
                <a:cs typeface="Rubik" panose="020B0604020202020204" charset="-79"/>
              </a:rPr>
              <a:t>- </a:t>
            </a:r>
            <a:r>
              <a:rPr lang="en-US" dirty="0">
                <a:solidFill>
                  <a:schemeClr val="bg1"/>
                </a:solidFill>
                <a:highlight>
                  <a:srgbClr val="22262B"/>
                </a:highlight>
                <a:latin typeface="Rubik" panose="020B0604020202020204" charset="-79"/>
                <a:cs typeface="Rubik" panose="020B0604020202020204" charset="-79"/>
              </a:rPr>
              <a:t>Confusion Matrix</a:t>
            </a:r>
            <a:r>
              <a:rPr lang="he-IL" dirty="0">
                <a:solidFill>
                  <a:schemeClr val="bg1"/>
                </a:solidFill>
                <a:highlight>
                  <a:srgbClr val="22262B"/>
                </a:highlight>
                <a:latin typeface="Rubik" panose="020B0604020202020204" charset="-79"/>
                <a:cs typeface="Rubik" panose="020B0604020202020204" charset="-79"/>
              </a:rPr>
              <a:t> ניתן לראות שהמודל מזהה נכון את מרבית המשיבים היציבים.</a:t>
            </a:r>
            <a:endParaRPr lang="en-IL" dirty="0">
              <a:solidFill>
                <a:schemeClr val="bg1"/>
              </a:solidFill>
              <a:latin typeface="Rubik" panose="020B0604020202020204" charset="-79"/>
              <a:cs typeface="Rubik" panose="020B0604020202020204" charset="-79"/>
            </a:endParaRPr>
          </a:p>
        </p:txBody>
      </p:sp>
      <p:pic>
        <p:nvPicPr>
          <p:cNvPr id="13" name="Google Shape;144;p18" descr="image.png">
            <a:extLst>
              <a:ext uri="{FF2B5EF4-FFF2-40B4-BE49-F238E27FC236}">
                <a16:creationId xmlns:a16="http://schemas.microsoft.com/office/drawing/2014/main" id="{BE4B7D0E-3C98-A002-3A2F-03312EAB3C01}"/>
              </a:ext>
            </a:extLst>
          </p:cNvPr>
          <p:cNvPicPr preferRelativeResize="0"/>
          <p:nvPr/>
        </p:nvPicPr>
        <p:blipFill rotWithShape="1">
          <a:blip r:embed="rId3">
            <a:alphaModFix/>
          </a:blip>
          <a:srcRect/>
          <a:stretch/>
        </p:blipFill>
        <p:spPr>
          <a:xfrm>
            <a:off x="808074" y="4552081"/>
            <a:ext cx="10225869" cy="1061657"/>
          </a:xfrm>
          <a:prstGeom prst="rect">
            <a:avLst/>
          </a:prstGeom>
          <a:noFill/>
          <a:ln>
            <a:noFill/>
          </a:ln>
        </p:spPr>
      </p:pic>
      <p:sp>
        <p:nvSpPr>
          <p:cNvPr id="15" name="Google Shape;145;p18">
            <a:extLst>
              <a:ext uri="{FF2B5EF4-FFF2-40B4-BE49-F238E27FC236}">
                <a16:creationId xmlns:a16="http://schemas.microsoft.com/office/drawing/2014/main" id="{49E0696C-3579-A0CF-57E0-721AB5BBCE6E}"/>
              </a:ext>
            </a:extLst>
          </p:cNvPr>
          <p:cNvSpPr txBox="1"/>
          <p:nvPr/>
        </p:nvSpPr>
        <p:spPr>
          <a:xfrm>
            <a:off x="2513819" y="4611919"/>
            <a:ext cx="6814377" cy="276999"/>
          </a:xfrm>
          <a:prstGeom prst="rect">
            <a:avLst/>
          </a:prstGeom>
          <a:noFill/>
          <a:ln>
            <a:noFill/>
          </a:ln>
        </p:spPr>
        <p:txBody>
          <a:bodyPr spcFirstLastPara="1" wrap="square" lIns="0" tIns="0" rIns="0" bIns="0" anchor="t" anchorCtr="0">
            <a:spAutoFit/>
          </a:bodyPr>
          <a:lstStyle/>
          <a:p>
            <a:pPr marL="0" marR="0" lvl="0" indent="0" algn="r" rtl="1">
              <a:spcBef>
                <a:spcPts val="0"/>
              </a:spcBef>
              <a:spcAft>
                <a:spcPts val="0"/>
              </a:spcAft>
              <a:buNone/>
            </a:pPr>
            <a:r>
              <a:rPr lang="en-US" sz="1800" b="1" dirty="0">
                <a:solidFill>
                  <a:srgbClr val="06B6D4"/>
                </a:solidFill>
                <a:latin typeface="Rubik"/>
                <a:ea typeface="Rubik"/>
                <a:cs typeface="Rubik"/>
                <a:sym typeface="Rubik"/>
              </a:rPr>
              <a:t>Hyperparameter Sensitivity Analysis of the Selected Model</a:t>
            </a:r>
            <a:endParaRPr dirty="0"/>
          </a:p>
        </p:txBody>
      </p:sp>
      <p:pic>
        <p:nvPicPr>
          <p:cNvPr id="19" name="Google Shape;144;p18" descr="image.png">
            <a:extLst>
              <a:ext uri="{FF2B5EF4-FFF2-40B4-BE49-F238E27FC236}">
                <a16:creationId xmlns:a16="http://schemas.microsoft.com/office/drawing/2014/main" id="{FB96BFD7-0C6B-56F5-7BA3-5DF75198E526}"/>
              </a:ext>
            </a:extLst>
          </p:cNvPr>
          <p:cNvPicPr preferRelativeResize="0"/>
          <p:nvPr/>
        </p:nvPicPr>
        <p:blipFill rotWithShape="1">
          <a:blip r:embed="rId3">
            <a:alphaModFix/>
          </a:blip>
          <a:srcRect/>
          <a:stretch/>
        </p:blipFill>
        <p:spPr>
          <a:xfrm>
            <a:off x="808074" y="5729210"/>
            <a:ext cx="10225869" cy="978725"/>
          </a:xfrm>
          <a:prstGeom prst="rect">
            <a:avLst/>
          </a:prstGeom>
          <a:noFill/>
          <a:ln>
            <a:noFill/>
          </a:ln>
        </p:spPr>
      </p:pic>
      <p:sp>
        <p:nvSpPr>
          <p:cNvPr id="21" name="Google Shape;145;p18">
            <a:extLst>
              <a:ext uri="{FF2B5EF4-FFF2-40B4-BE49-F238E27FC236}">
                <a16:creationId xmlns:a16="http://schemas.microsoft.com/office/drawing/2014/main" id="{E667D8FA-E98C-117D-64F6-814A34139BED}"/>
              </a:ext>
            </a:extLst>
          </p:cNvPr>
          <p:cNvSpPr txBox="1"/>
          <p:nvPr/>
        </p:nvSpPr>
        <p:spPr>
          <a:xfrm>
            <a:off x="1920678" y="5782823"/>
            <a:ext cx="8000660" cy="276999"/>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sz="1800" b="1" dirty="0" err="1">
                <a:solidFill>
                  <a:srgbClr val="06B6D4"/>
                </a:solidFill>
                <a:latin typeface="Rubik"/>
                <a:ea typeface="Rubik"/>
                <a:cs typeface="Rubik"/>
                <a:sym typeface="Rubik"/>
              </a:rPr>
              <a:t>SHAP</a:t>
            </a:r>
            <a:r>
              <a:rPr lang="en-US" sz="1800" b="1" dirty="0">
                <a:solidFill>
                  <a:srgbClr val="06B6D4"/>
                </a:solidFill>
                <a:latin typeface="Rubik"/>
                <a:ea typeface="Rubik"/>
                <a:cs typeface="Rubik"/>
                <a:sym typeface="Rubik"/>
              </a:rPr>
              <a:t> Summary Plot: Feature Impact on Model Predictions</a:t>
            </a:r>
            <a:endParaRPr dirty="0"/>
          </a:p>
        </p:txBody>
      </p:sp>
      <p:sp>
        <p:nvSpPr>
          <p:cNvPr id="23" name="תיבת טקסט 22">
            <a:extLst>
              <a:ext uri="{FF2B5EF4-FFF2-40B4-BE49-F238E27FC236}">
                <a16:creationId xmlns:a16="http://schemas.microsoft.com/office/drawing/2014/main" id="{C1D2B652-7396-6497-3C35-8710E116C670}"/>
              </a:ext>
            </a:extLst>
          </p:cNvPr>
          <p:cNvSpPr txBox="1"/>
          <p:nvPr/>
        </p:nvSpPr>
        <p:spPr>
          <a:xfrm>
            <a:off x="903767" y="6059822"/>
            <a:ext cx="9734773" cy="523220"/>
          </a:xfrm>
          <a:prstGeom prst="rect">
            <a:avLst/>
          </a:prstGeom>
          <a:noFill/>
        </p:spPr>
        <p:txBody>
          <a:bodyPr wrap="square" rtlCol="0">
            <a:spAutoFit/>
          </a:bodyPr>
          <a:lstStyle/>
          <a:p>
            <a:pPr algn="ctr" rtl="1"/>
            <a:r>
              <a:rPr lang="he-IL" dirty="0">
                <a:solidFill>
                  <a:schemeClr val="lt1"/>
                </a:solidFill>
                <a:latin typeface="Rubik" panose="020B0604020202020204" charset="-79"/>
                <a:cs typeface="Rubik" panose="020B0604020202020204" charset="-79"/>
              </a:rPr>
              <a:t>המודל מצליח לזהות דפוסי התנהגות פיננסיים מובהקים, כאשר השקעות בנקאיות, תכנון קניות ותשלום חשבונות בזמן הם ה"מגנים" החזקים ביותר של משק הבית מפני מצוקה כלכלית.</a:t>
            </a:r>
            <a:endParaRPr lang="en-IL" dirty="0">
              <a:latin typeface="Rubik" panose="020B0604020202020204" charset="-79"/>
              <a:cs typeface="Rubik" panose="020B0604020202020204" charset="-79"/>
            </a:endParaRPr>
          </a:p>
        </p:txBody>
      </p:sp>
      <p:sp>
        <p:nvSpPr>
          <p:cNvPr id="25" name="תיבת טקסט 24">
            <a:extLst>
              <a:ext uri="{FF2B5EF4-FFF2-40B4-BE49-F238E27FC236}">
                <a16:creationId xmlns:a16="http://schemas.microsoft.com/office/drawing/2014/main" id="{BD6F11B4-F2C2-F4B7-EFF2-C02D97FE4E04}"/>
              </a:ext>
            </a:extLst>
          </p:cNvPr>
          <p:cNvSpPr txBox="1"/>
          <p:nvPr/>
        </p:nvSpPr>
        <p:spPr>
          <a:xfrm>
            <a:off x="808074" y="4861622"/>
            <a:ext cx="9830466" cy="738664"/>
          </a:xfrm>
          <a:prstGeom prst="rect">
            <a:avLst/>
          </a:prstGeom>
          <a:noFill/>
        </p:spPr>
        <p:txBody>
          <a:bodyPr wrap="square" rtlCol="0">
            <a:spAutoFit/>
          </a:bodyPr>
          <a:lstStyle/>
          <a:p>
            <a:pPr algn="ctr" rtl="1"/>
            <a:r>
              <a:rPr lang="he-IL" dirty="0">
                <a:solidFill>
                  <a:schemeClr val="lt1"/>
                </a:solidFill>
                <a:latin typeface="Rubik" panose="020B0604020202020204" charset="-79"/>
                <a:cs typeface="Rubik" panose="020B0604020202020204" charset="-79"/>
              </a:rPr>
              <a:t>תרשימים הבאים ממחישים כיצד שינויים בהיפר-פרמטרים בודדים (כמו מספר העצים, קצב הלמידה ועומק העץ) משפיעים על מדדי הביצוע של המודל (</a:t>
            </a:r>
            <a:r>
              <a:rPr lang="en-US" dirty="0">
                <a:solidFill>
                  <a:schemeClr val="lt1"/>
                </a:solidFill>
                <a:latin typeface="Rubik" panose="020B0604020202020204" charset="-79"/>
                <a:cs typeface="Rubik" panose="020B0604020202020204" charset="-79"/>
              </a:rPr>
              <a:t>Accuracy, Recall </a:t>
            </a:r>
            <a:r>
              <a:rPr lang="he-IL" dirty="0">
                <a:solidFill>
                  <a:schemeClr val="lt1"/>
                </a:solidFill>
                <a:latin typeface="Rubik" panose="020B0604020202020204" charset="-79"/>
                <a:cs typeface="Rubik" panose="020B0604020202020204" charset="-79"/>
              </a:rPr>
              <a:t>ו-</a:t>
            </a:r>
            <a:r>
              <a:rPr lang="en-US" dirty="0" err="1">
                <a:solidFill>
                  <a:schemeClr val="lt1"/>
                </a:solidFill>
                <a:latin typeface="Rubik" panose="020B0604020202020204" charset="-79"/>
                <a:cs typeface="Rubik" panose="020B0604020202020204" charset="-79"/>
              </a:rPr>
              <a:t>F1</a:t>
            </a:r>
            <a:r>
              <a:rPr lang="en-US" dirty="0">
                <a:solidFill>
                  <a:schemeClr val="lt1"/>
                </a:solidFill>
                <a:latin typeface="Rubik" panose="020B0604020202020204" charset="-79"/>
                <a:cs typeface="Rubik" panose="020B0604020202020204" charset="-79"/>
              </a:rPr>
              <a:t>-score </a:t>
            </a:r>
            <a:r>
              <a:rPr lang="he-IL" dirty="0">
                <a:solidFill>
                  <a:schemeClr val="lt1"/>
                </a:solidFill>
                <a:latin typeface="Rubik" panose="020B0604020202020204" charset="-79"/>
                <a:cs typeface="Rubik" panose="020B0604020202020204" charset="-79"/>
              </a:rPr>
              <a:t> ). הניתוח מאשש שהמודל שנבחר הוא </a:t>
            </a:r>
            <a:r>
              <a:rPr lang="en-US" dirty="0">
                <a:solidFill>
                  <a:schemeClr val="lt1"/>
                </a:solidFill>
                <a:latin typeface="Rubik" panose="020B0604020202020204" charset="-79"/>
                <a:cs typeface="Rubik" panose="020B0604020202020204" charset="-79"/>
              </a:rPr>
              <a:t>Robust</a:t>
            </a:r>
            <a:r>
              <a:rPr lang="he-IL" dirty="0">
                <a:solidFill>
                  <a:schemeClr val="lt1"/>
                </a:solidFill>
                <a:latin typeface="Rubik" panose="020B0604020202020204" charset="-79"/>
                <a:cs typeface="Rubik" panose="020B0604020202020204" charset="-79"/>
              </a:rPr>
              <a:t> </a:t>
            </a:r>
            <a:r>
              <a:rPr lang="en-US" dirty="0">
                <a:solidFill>
                  <a:schemeClr val="lt1"/>
                </a:solidFill>
                <a:latin typeface="Rubik" panose="020B0604020202020204" charset="-79"/>
                <a:cs typeface="Rubik" panose="020B0604020202020204" charset="-79"/>
              </a:rPr>
              <a:t> </a:t>
            </a:r>
            <a:r>
              <a:rPr lang="he-IL" dirty="0">
                <a:solidFill>
                  <a:schemeClr val="lt1"/>
                </a:solidFill>
                <a:latin typeface="Rubik" panose="020B0604020202020204" charset="-79"/>
                <a:cs typeface="Rubik" panose="020B0604020202020204" charset="-79"/>
              </a:rPr>
              <a:t>ושהערכים שנבחרו – המסומנים בקו האדום המקווקו – מהווים תצורה אופטימלית ויציבה לניבוי פגיעות פיננסית.</a:t>
            </a:r>
            <a:endParaRPr lang="en-IL" dirty="0">
              <a:latin typeface="Rubik" panose="020B0604020202020204" charset="-79"/>
              <a:cs typeface="Rubik" panose="020B0604020202020204" charset="-79"/>
            </a:endParaRPr>
          </a:p>
        </p:txBody>
      </p:sp>
      <p:pic>
        <p:nvPicPr>
          <p:cNvPr id="27" name="Google Shape;144;p18" descr="image.png">
            <a:extLst>
              <a:ext uri="{FF2B5EF4-FFF2-40B4-BE49-F238E27FC236}">
                <a16:creationId xmlns:a16="http://schemas.microsoft.com/office/drawing/2014/main" id="{B7DF83AC-2E22-C97E-0862-E8E2B2B967A8}"/>
              </a:ext>
            </a:extLst>
          </p:cNvPr>
          <p:cNvPicPr preferRelativeResize="0"/>
          <p:nvPr/>
        </p:nvPicPr>
        <p:blipFill rotWithShape="1">
          <a:blip r:embed="rId3">
            <a:alphaModFix/>
          </a:blip>
          <a:srcRect/>
          <a:stretch/>
        </p:blipFill>
        <p:spPr>
          <a:xfrm>
            <a:off x="808074" y="1324976"/>
            <a:ext cx="10225869" cy="791201"/>
          </a:xfrm>
          <a:prstGeom prst="rect">
            <a:avLst/>
          </a:prstGeom>
          <a:noFill/>
          <a:ln>
            <a:noFill/>
          </a:ln>
        </p:spPr>
      </p:pic>
      <p:sp>
        <p:nvSpPr>
          <p:cNvPr id="29" name="Google Shape;145;p18">
            <a:extLst>
              <a:ext uri="{FF2B5EF4-FFF2-40B4-BE49-F238E27FC236}">
                <a16:creationId xmlns:a16="http://schemas.microsoft.com/office/drawing/2014/main" id="{8C6993E5-7E91-2A2D-4765-CA7AFBEB4C00}"/>
              </a:ext>
            </a:extLst>
          </p:cNvPr>
          <p:cNvSpPr txBox="1"/>
          <p:nvPr/>
        </p:nvSpPr>
        <p:spPr>
          <a:xfrm>
            <a:off x="1770823" y="1388420"/>
            <a:ext cx="8000660" cy="276999"/>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sz="1800" b="1" dirty="0">
                <a:solidFill>
                  <a:srgbClr val="06B6D4"/>
                </a:solidFill>
                <a:latin typeface="Rubik"/>
                <a:ea typeface="Rubik"/>
                <a:cs typeface="Rubik"/>
                <a:sym typeface="Rubik"/>
              </a:rPr>
              <a:t>Baseline Evaluation</a:t>
            </a:r>
            <a:endParaRPr dirty="0"/>
          </a:p>
        </p:txBody>
      </p:sp>
      <p:sp>
        <p:nvSpPr>
          <p:cNvPr id="31" name="תיבת טקסט 30">
            <a:extLst>
              <a:ext uri="{FF2B5EF4-FFF2-40B4-BE49-F238E27FC236}">
                <a16:creationId xmlns:a16="http://schemas.microsoft.com/office/drawing/2014/main" id="{610F30B9-28CF-9FB8-D54B-7A88C77E5F10}"/>
              </a:ext>
            </a:extLst>
          </p:cNvPr>
          <p:cNvSpPr txBox="1"/>
          <p:nvPr/>
        </p:nvSpPr>
        <p:spPr>
          <a:xfrm>
            <a:off x="808075" y="1709201"/>
            <a:ext cx="9830466" cy="307777"/>
          </a:xfrm>
          <a:prstGeom prst="rect">
            <a:avLst/>
          </a:prstGeom>
          <a:noFill/>
        </p:spPr>
        <p:txBody>
          <a:bodyPr wrap="square" rtlCol="0">
            <a:spAutoFit/>
          </a:bodyPr>
          <a:lstStyle/>
          <a:p>
            <a:pPr algn="ctr" rtl="1"/>
            <a:r>
              <a:rPr lang="he-IL" dirty="0">
                <a:solidFill>
                  <a:schemeClr val="lt1"/>
                </a:solidFill>
                <a:highlight>
                  <a:srgbClr val="22262B"/>
                </a:highlight>
                <a:latin typeface="Rubik" panose="020B0604020202020204" charset="-79"/>
                <a:cs typeface="Rubik" panose="020B0604020202020204" charset="-79"/>
              </a:rPr>
              <a:t>השלב הראשון שנועד לקבוע רף ייחוס </a:t>
            </a:r>
            <a:r>
              <a:rPr lang="en-US" dirty="0">
                <a:solidFill>
                  <a:schemeClr val="lt1"/>
                </a:solidFill>
                <a:highlight>
                  <a:srgbClr val="22262B"/>
                </a:highlight>
                <a:latin typeface="Rubik" panose="020B0604020202020204" charset="-79"/>
                <a:cs typeface="Rubik" panose="020B0604020202020204" charset="-79"/>
              </a:rPr>
              <a:t>(Benchmark)</a:t>
            </a:r>
            <a:r>
              <a:rPr lang="he-IL" dirty="0">
                <a:solidFill>
                  <a:schemeClr val="lt1"/>
                </a:solidFill>
                <a:highlight>
                  <a:srgbClr val="22262B"/>
                </a:highlight>
                <a:latin typeface="Rubik" panose="020B0604020202020204" charset="-79"/>
                <a:cs typeface="Rubik" panose="020B0604020202020204" charset="-79"/>
              </a:rPr>
              <a:t> אובייקטיבי - השוואת המודל המונחה לניחוש אקראי </a:t>
            </a:r>
            <a:r>
              <a:rPr lang="en-US" dirty="0">
                <a:solidFill>
                  <a:schemeClr val="lt1"/>
                </a:solidFill>
                <a:highlight>
                  <a:srgbClr val="22262B"/>
                </a:highlight>
                <a:latin typeface="Rubik" panose="020B0604020202020204" charset="-79"/>
                <a:cs typeface="Rubik" panose="020B0604020202020204" charset="-79"/>
              </a:rPr>
              <a:t>(Uniform)</a:t>
            </a:r>
            <a:r>
              <a:rPr lang="he-IL" dirty="0">
                <a:solidFill>
                  <a:schemeClr val="lt1"/>
                </a:solidFill>
                <a:highlight>
                  <a:srgbClr val="22262B"/>
                </a:highlight>
                <a:latin typeface="Rubik" panose="020B0604020202020204" charset="-79"/>
                <a:cs typeface="Rubik" panose="020B0604020202020204" charset="-79"/>
              </a:rPr>
              <a:t>.</a:t>
            </a:r>
            <a:endParaRPr lang="en-IL" dirty="0">
              <a:latin typeface="Rubik" panose="020B0604020202020204" charset="-79"/>
              <a:cs typeface="Rubik" panose="020B0604020202020204" charset="-79"/>
            </a:endParaRPr>
          </a:p>
        </p:txBody>
      </p:sp>
      <p:sp>
        <p:nvSpPr>
          <p:cNvPr id="33" name="לחצן פעולה: חזרה 32">
            <a:hlinkClick r:id="rId4" action="ppaction://hlinksldjump" highlightClick="1"/>
            <a:extLst>
              <a:ext uri="{FF2B5EF4-FFF2-40B4-BE49-F238E27FC236}">
                <a16:creationId xmlns:a16="http://schemas.microsoft.com/office/drawing/2014/main" id="{B920BD60-54F1-86B7-CD17-03084721D088}"/>
              </a:ext>
            </a:extLst>
          </p:cNvPr>
          <p:cNvSpPr/>
          <p:nvPr/>
        </p:nvSpPr>
        <p:spPr>
          <a:xfrm>
            <a:off x="11136698" y="1578442"/>
            <a:ext cx="353460" cy="286529"/>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לחצן פעולה: חזרה 34">
            <a:hlinkClick r:id="rId5" action="ppaction://hlinksldjump" highlightClick="1"/>
            <a:extLst>
              <a:ext uri="{FF2B5EF4-FFF2-40B4-BE49-F238E27FC236}">
                <a16:creationId xmlns:a16="http://schemas.microsoft.com/office/drawing/2014/main" id="{3A88E6E8-135A-2DD3-2821-131C05272827}"/>
              </a:ext>
            </a:extLst>
          </p:cNvPr>
          <p:cNvSpPr/>
          <p:nvPr/>
        </p:nvSpPr>
        <p:spPr>
          <a:xfrm>
            <a:off x="11136698" y="2554323"/>
            <a:ext cx="353460" cy="286529"/>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לחצן פעולה: חזרה 36">
            <a:hlinkClick r:id="rId6" action="ppaction://hlinksldjump" highlightClick="1"/>
            <a:extLst>
              <a:ext uri="{FF2B5EF4-FFF2-40B4-BE49-F238E27FC236}">
                <a16:creationId xmlns:a16="http://schemas.microsoft.com/office/drawing/2014/main" id="{58A5F302-EB18-88EB-9099-530A388A0717}"/>
              </a:ext>
            </a:extLst>
          </p:cNvPr>
          <p:cNvSpPr/>
          <p:nvPr/>
        </p:nvSpPr>
        <p:spPr>
          <a:xfrm>
            <a:off x="11136698" y="3730620"/>
            <a:ext cx="353460" cy="286529"/>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לחצן פעולה: חזרה 38">
            <a:hlinkClick r:id="rId7" action="ppaction://hlinksldjump" highlightClick="1"/>
            <a:extLst>
              <a:ext uri="{FF2B5EF4-FFF2-40B4-BE49-F238E27FC236}">
                <a16:creationId xmlns:a16="http://schemas.microsoft.com/office/drawing/2014/main" id="{9470E124-4DEE-508B-DD03-30E1F54E0969}"/>
              </a:ext>
            </a:extLst>
          </p:cNvPr>
          <p:cNvSpPr/>
          <p:nvPr/>
        </p:nvSpPr>
        <p:spPr>
          <a:xfrm>
            <a:off x="11136698" y="4993029"/>
            <a:ext cx="353460" cy="286529"/>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1" name="לחצן פעולה: חזרה 40">
            <a:hlinkClick r:id="rId8" action="ppaction://hlinksldjump" highlightClick="1"/>
            <a:extLst>
              <a:ext uri="{FF2B5EF4-FFF2-40B4-BE49-F238E27FC236}">
                <a16:creationId xmlns:a16="http://schemas.microsoft.com/office/drawing/2014/main" id="{EF2191ED-059A-6177-B86E-488CB94CFADA}"/>
              </a:ext>
            </a:extLst>
          </p:cNvPr>
          <p:cNvSpPr/>
          <p:nvPr/>
        </p:nvSpPr>
        <p:spPr>
          <a:xfrm>
            <a:off x="11136698" y="6075307"/>
            <a:ext cx="353460" cy="286529"/>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50"/>
        <p:cNvGrpSpPr/>
        <p:nvPr/>
      </p:nvGrpSpPr>
      <p:grpSpPr>
        <a:xfrm>
          <a:off x="0" y="0"/>
          <a:ext cx="0" cy="0"/>
          <a:chOff x="0" y="0"/>
          <a:chExt cx="0" cy="0"/>
        </a:xfrm>
      </p:grpSpPr>
      <p:sp>
        <p:nvSpPr>
          <p:cNvPr id="151" name="Google Shape;151;p19"/>
          <p:cNvSpPr txBox="1"/>
          <p:nvPr/>
        </p:nvSpPr>
        <p:spPr>
          <a:xfrm>
            <a:off x="570300" y="262015"/>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a:solidFill>
                  <a:srgbClr val="F8FAFC"/>
                </a:solidFill>
                <a:latin typeface="Rubik SemiBold"/>
                <a:ea typeface="Rubik SemiBold"/>
                <a:cs typeface="Rubik SemiBold"/>
                <a:sym typeface="Rubik SemiBold"/>
              </a:rPr>
              <a:t>Interactive Decision Support Dashboard</a:t>
            </a:r>
            <a:endParaRPr/>
          </a:p>
        </p:txBody>
      </p:sp>
      <p:sp>
        <p:nvSpPr>
          <p:cNvPr id="152" name="Google Shape;152;p19"/>
          <p:cNvSpPr/>
          <p:nvPr/>
        </p:nvSpPr>
        <p:spPr>
          <a:xfrm>
            <a:off x="581025" y="84709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תמונה 2">
            <a:extLst>
              <a:ext uri="{FF2B5EF4-FFF2-40B4-BE49-F238E27FC236}">
                <a16:creationId xmlns:a16="http://schemas.microsoft.com/office/drawing/2014/main" id="{901BECA0-DA03-E3AB-F781-5AC42C96CD2D}"/>
              </a:ext>
            </a:extLst>
          </p:cNvPr>
          <p:cNvPicPr>
            <a:picLocks noChangeAspect="1"/>
          </p:cNvPicPr>
          <p:nvPr/>
        </p:nvPicPr>
        <p:blipFill>
          <a:blip r:embed="rId3"/>
          <a:stretch>
            <a:fillRect/>
          </a:stretch>
        </p:blipFill>
        <p:spPr>
          <a:xfrm>
            <a:off x="4407413" y="1868781"/>
            <a:ext cx="2809872" cy="4412244"/>
          </a:xfrm>
          <a:prstGeom prst="rect">
            <a:avLst/>
          </a:prstGeom>
        </p:spPr>
      </p:pic>
      <p:pic>
        <p:nvPicPr>
          <p:cNvPr id="5" name="תמונה 4">
            <a:extLst>
              <a:ext uri="{FF2B5EF4-FFF2-40B4-BE49-F238E27FC236}">
                <a16:creationId xmlns:a16="http://schemas.microsoft.com/office/drawing/2014/main" id="{91CDC8D9-1E11-BD05-B70E-7044356B66A8}"/>
              </a:ext>
            </a:extLst>
          </p:cNvPr>
          <p:cNvPicPr>
            <a:picLocks noChangeAspect="1"/>
          </p:cNvPicPr>
          <p:nvPr/>
        </p:nvPicPr>
        <p:blipFill>
          <a:blip r:embed="rId4"/>
          <a:stretch>
            <a:fillRect/>
          </a:stretch>
        </p:blipFill>
        <p:spPr>
          <a:xfrm>
            <a:off x="8081818" y="1681911"/>
            <a:ext cx="2185159" cy="3819420"/>
          </a:xfrm>
          <a:prstGeom prst="rect">
            <a:avLst/>
          </a:prstGeom>
        </p:spPr>
      </p:pic>
      <p:pic>
        <p:nvPicPr>
          <p:cNvPr id="7" name="תמונה 6">
            <a:extLst>
              <a:ext uri="{FF2B5EF4-FFF2-40B4-BE49-F238E27FC236}">
                <a16:creationId xmlns:a16="http://schemas.microsoft.com/office/drawing/2014/main" id="{0FA06C27-1997-1BEC-4255-21A4A96D062E}"/>
              </a:ext>
            </a:extLst>
          </p:cNvPr>
          <p:cNvPicPr>
            <a:picLocks noChangeAspect="1"/>
          </p:cNvPicPr>
          <p:nvPr/>
        </p:nvPicPr>
        <p:blipFill>
          <a:blip r:embed="rId5"/>
          <a:stretch>
            <a:fillRect/>
          </a:stretch>
        </p:blipFill>
        <p:spPr>
          <a:xfrm>
            <a:off x="8595469" y="1311521"/>
            <a:ext cx="2536041" cy="3634093"/>
          </a:xfrm>
          <a:prstGeom prst="rect">
            <a:avLst/>
          </a:prstGeom>
        </p:spPr>
      </p:pic>
      <p:pic>
        <p:nvPicPr>
          <p:cNvPr id="9" name="תמונה 8">
            <a:extLst>
              <a:ext uri="{FF2B5EF4-FFF2-40B4-BE49-F238E27FC236}">
                <a16:creationId xmlns:a16="http://schemas.microsoft.com/office/drawing/2014/main" id="{44202803-8DEF-76CB-0E61-744064CCF1C5}"/>
              </a:ext>
            </a:extLst>
          </p:cNvPr>
          <p:cNvPicPr>
            <a:picLocks noChangeAspect="1"/>
          </p:cNvPicPr>
          <p:nvPr/>
        </p:nvPicPr>
        <p:blipFill>
          <a:blip r:embed="rId6"/>
          <a:stretch>
            <a:fillRect/>
          </a:stretch>
        </p:blipFill>
        <p:spPr>
          <a:xfrm>
            <a:off x="520458" y="2214333"/>
            <a:ext cx="2809130" cy="4486222"/>
          </a:xfrm>
          <a:prstGeom prst="rect">
            <a:avLst/>
          </a:prstGeom>
        </p:spPr>
      </p:pic>
      <p:sp>
        <p:nvSpPr>
          <p:cNvPr id="11" name="חץ: מעוקל למטה 10">
            <a:extLst>
              <a:ext uri="{FF2B5EF4-FFF2-40B4-BE49-F238E27FC236}">
                <a16:creationId xmlns:a16="http://schemas.microsoft.com/office/drawing/2014/main" id="{363D1A12-D6B8-F6A9-F84F-C54DF65F2F76}"/>
              </a:ext>
            </a:extLst>
          </p:cNvPr>
          <p:cNvSpPr/>
          <p:nvPr/>
        </p:nvSpPr>
        <p:spPr>
          <a:xfrm rot="10800000">
            <a:off x="7338632" y="5695950"/>
            <a:ext cx="1256837" cy="433658"/>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13" name="חץ: מעוקל למטה 12">
            <a:extLst>
              <a:ext uri="{FF2B5EF4-FFF2-40B4-BE49-F238E27FC236}">
                <a16:creationId xmlns:a16="http://schemas.microsoft.com/office/drawing/2014/main" id="{6223E246-0474-FBE2-055F-B2CD65B17C9B}"/>
              </a:ext>
            </a:extLst>
          </p:cNvPr>
          <p:cNvSpPr/>
          <p:nvPr/>
        </p:nvSpPr>
        <p:spPr>
          <a:xfrm rot="10800000">
            <a:off x="3458359" y="6423600"/>
            <a:ext cx="1187111" cy="379968"/>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solidFill>
                <a:schemeClr val="tx1"/>
              </a:solidFill>
            </a:endParaRPr>
          </a:p>
        </p:txBody>
      </p:sp>
      <p:sp>
        <p:nvSpPr>
          <p:cNvPr id="16" name="Google Shape;145;p18">
            <a:hlinkClick r:id="rId7" action="ppaction://hlinksldjump"/>
            <a:extLst>
              <a:ext uri="{FF2B5EF4-FFF2-40B4-BE49-F238E27FC236}">
                <a16:creationId xmlns:a16="http://schemas.microsoft.com/office/drawing/2014/main" id="{9D3E55C1-FC80-2B64-C2A4-872EE2221325}"/>
              </a:ext>
            </a:extLst>
          </p:cNvPr>
          <p:cNvSpPr txBox="1"/>
          <p:nvPr/>
        </p:nvSpPr>
        <p:spPr>
          <a:xfrm>
            <a:off x="8256863" y="986416"/>
            <a:ext cx="2874647" cy="215444"/>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b="1" dirty="0">
                <a:solidFill>
                  <a:schemeClr val="accent5">
                    <a:lumMod val="75000"/>
                  </a:schemeClr>
                </a:solidFill>
                <a:latin typeface="Rubik" panose="020B0604020202020204" charset="-79"/>
                <a:cs typeface="Rubik" panose="020B0604020202020204" charset="-79"/>
              </a:rPr>
              <a:t>Social survey financial data</a:t>
            </a:r>
            <a:endParaRPr b="1" dirty="0">
              <a:solidFill>
                <a:schemeClr val="accent5">
                  <a:lumMod val="75000"/>
                </a:schemeClr>
              </a:solidFill>
              <a:latin typeface="Rubik" panose="020B0604020202020204" charset="-79"/>
              <a:cs typeface="Rubik" panose="020B0604020202020204" charset="-79"/>
            </a:endParaRPr>
          </a:p>
        </p:txBody>
      </p:sp>
      <p:sp>
        <p:nvSpPr>
          <p:cNvPr id="18" name="Google Shape;145;p18">
            <a:hlinkClick r:id="rId7" action="ppaction://hlinksldjump"/>
            <a:extLst>
              <a:ext uri="{FF2B5EF4-FFF2-40B4-BE49-F238E27FC236}">
                <a16:creationId xmlns:a16="http://schemas.microsoft.com/office/drawing/2014/main" id="{3D846FA7-E972-A218-387A-72562119EEAF}"/>
              </a:ext>
            </a:extLst>
          </p:cNvPr>
          <p:cNvSpPr txBox="1"/>
          <p:nvPr/>
        </p:nvSpPr>
        <p:spPr>
          <a:xfrm>
            <a:off x="4375025" y="1510762"/>
            <a:ext cx="2874647" cy="215444"/>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b="1" dirty="0">
                <a:solidFill>
                  <a:schemeClr val="accent5">
                    <a:lumMod val="75000"/>
                  </a:schemeClr>
                </a:solidFill>
                <a:latin typeface="Rubik" panose="020B0604020202020204" charset="-79"/>
                <a:cs typeface="Rubik" panose="020B0604020202020204" charset="-79"/>
              </a:rPr>
              <a:t>Creating  Dashboard </a:t>
            </a:r>
            <a:endParaRPr b="1" dirty="0">
              <a:solidFill>
                <a:schemeClr val="accent5">
                  <a:lumMod val="75000"/>
                </a:schemeClr>
              </a:solidFill>
              <a:latin typeface="Rubik" panose="020B0604020202020204" charset="-79"/>
              <a:cs typeface="Rubik" panose="020B0604020202020204" charset="-79"/>
            </a:endParaRPr>
          </a:p>
        </p:txBody>
      </p:sp>
      <p:sp>
        <p:nvSpPr>
          <p:cNvPr id="20" name="Google Shape;145;p18">
            <a:hlinkClick r:id="rId7" action="ppaction://hlinksldjump"/>
            <a:extLst>
              <a:ext uri="{FF2B5EF4-FFF2-40B4-BE49-F238E27FC236}">
                <a16:creationId xmlns:a16="http://schemas.microsoft.com/office/drawing/2014/main" id="{82EF7A7C-39D5-F306-7DA8-7C26B9273C84}"/>
              </a:ext>
            </a:extLst>
          </p:cNvPr>
          <p:cNvSpPr txBox="1"/>
          <p:nvPr/>
        </p:nvSpPr>
        <p:spPr>
          <a:xfrm>
            <a:off x="520458" y="998719"/>
            <a:ext cx="2874647" cy="430887"/>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en-US" b="1" dirty="0">
                <a:solidFill>
                  <a:schemeClr val="accent5">
                    <a:lumMod val="75000"/>
                  </a:schemeClr>
                </a:solidFill>
                <a:latin typeface="Rubik" panose="020B0604020202020204" charset="-79"/>
                <a:cs typeface="Rubik" panose="020B0604020202020204" charset="-79"/>
              </a:rPr>
              <a:t>Personal Risk Scoring &amp; Profiling</a:t>
            </a:r>
            <a:endParaRPr b="1" dirty="0">
              <a:solidFill>
                <a:schemeClr val="accent5">
                  <a:lumMod val="75000"/>
                </a:schemeClr>
              </a:solidFill>
              <a:latin typeface="Rubik" panose="020B0604020202020204" charset="-79"/>
              <a:cs typeface="Rubik" panose="020B0604020202020204" charset="-79"/>
            </a:endParaRPr>
          </a:p>
        </p:txBody>
      </p:sp>
      <p:graphicFrame>
        <p:nvGraphicFramePr>
          <p:cNvPr id="22" name="אובייקט 21">
            <a:hlinkClick r:id="rId8" action="ppaction://hlinkfile"/>
            <a:extLst>
              <a:ext uri="{FF2B5EF4-FFF2-40B4-BE49-F238E27FC236}">
                <a16:creationId xmlns:a16="http://schemas.microsoft.com/office/drawing/2014/main" id="{156C7DE3-EA40-47CA-ECF4-E1CB614D4AAA}"/>
              </a:ext>
            </a:extLst>
          </p:cNvPr>
          <p:cNvGraphicFramePr>
            <a:graphicFrameLocks noChangeAspect="1"/>
          </p:cNvGraphicFramePr>
          <p:nvPr>
            <p:extLst>
              <p:ext uri="{D42A27DB-BD31-4B8C-83A1-F6EECF244321}">
                <p14:modId xmlns:p14="http://schemas.microsoft.com/office/powerpoint/2010/main" val="3818030567"/>
              </p:ext>
            </p:extLst>
          </p:nvPr>
        </p:nvGraphicFramePr>
        <p:xfrm>
          <a:off x="1471265" y="1506558"/>
          <a:ext cx="907515" cy="707775"/>
        </p:xfrm>
        <a:graphic>
          <a:graphicData uri="http://schemas.openxmlformats.org/presentationml/2006/ole">
            <mc:AlternateContent xmlns:mc="http://schemas.openxmlformats.org/markup-compatibility/2006">
              <mc:Choice xmlns:v="urn:schemas-microsoft-com:vml" Requires="v">
                <p:oleObj name="אובייקט מעטפת של כורך האובייקטים" showAsIcon="1" r:id="rId9" imgW="662902" imgH="518269" progId="Package">
                  <p:embed/>
                </p:oleObj>
              </mc:Choice>
              <mc:Fallback>
                <p:oleObj name="אובייקט מעטפת של כורך האובייקטים" showAsIcon="1" r:id="rId9" imgW="662902" imgH="518269" progId="Package">
                  <p:embed/>
                  <p:pic>
                    <p:nvPicPr>
                      <p:cNvPr id="0" name=""/>
                      <p:cNvPicPr/>
                      <p:nvPr/>
                    </p:nvPicPr>
                    <p:blipFill>
                      <a:blip r:embed="rId10"/>
                      <a:stretch>
                        <a:fillRect/>
                      </a:stretch>
                    </p:blipFill>
                    <p:spPr>
                      <a:xfrm>
                        <a:off x="1471265" y="1506558"/>
                        <a:ext cx="907515" cy="70777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Shape 159"/>
        <p:cNvGrpSpPr/>
        <p:nvPr/>
      </p:nvGrpSpPr>
      <p:grpSpPr>
        <a:xfrm>
          <a:off x="0" y="0"/>
          <a:ext cx="0" cy="0"/>
          <a:chOff x="0" y="0"/>
          <a:chExt cx="0" cy="0"/>
        </a:xfrm>
      </p:grpSpPr>
      <p:sp>
        <p:nvSpPr>
          <p:cNvPr id="160" name="Google Shape;160;p20"/>
          <p:cNvSpPr txBox="1"/>
          <p:nvPr/>
        </p:nvSpPr>
        <p:spPr>
          <a:xfrm>
            <a:off x="570300" y="576975"/>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dirty="0">
                <a:solidFill>
                  <a:srgbClr val="F8FAFC"/>
                </a:solidFill>
                <a:latin typeface="Rubik SemiBold"/>
                <a:ea typeface="Rubik SemiBold"/>
                <a:cs typeface="Rubik SemiBold"/>
                <a:sym typeface="Rubik SemiBold"/>
              </a:rPr>
              <a:t>Benefits &amp; Challenges</a:t>
            </a:r>
            <a:endParaRPr dirty="0"/>
          </a:p>
        </p:txBody>
      </p:sp>
      <p:sp>
        <p:nvSpPr>
          <p:cNvPr id="161" name="Google Shape;161;p20"/>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2" name="Google Shape;162;p20" descr="image.png"/>
          <p:cNvPicPr preferRelativeResize="0"/>
          <p:nvPr/>
        </p:nvPicPr>
        <p:blipFill rotWithShape="1">
          <a:blip r:embed="rId3">
            <a:alphaModFix/>
          </a:blip>
          <a:srcRect/>
          <a:stretch/>
        </p:blipFill>
        <p:spPr>
          <a:xfrm>
            <a:off x="6353852" y="1270483"/>
            <a:ext cx="4970701" cy="1896381"/>
          </a:xfrm>
          <a:prstGeom prst="rect">
            <a:avLst/>
          </a:prstGeom>
          <a:noFill/>
          <a:ln>
            <a:noFill/>
          </a:ln>
        </p:spPr>
      </p:pic>
      <p:sp>
        <p:nvSpPr>
          <p:cNvPr id="163" name="Google Shape;163;p20"/>
          <p:cNvSpPr txBox="1"/>
          <p:nvPr/>
        </p:nvSpPr>
        <p:spPr>
          <a:xfrm>
            <a:off x="7103845" y="1360084"/>
            <a:ext cx="2642188" cy="36933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he-IL" sz="2400" b="1" dirty="0">
                <a:solidFill>
                  <a:srgbClr val="06B6D4"/>
                </a:solidFill>
                <a:latin typeface="Rubik"/>
                <a:ea typeface="Rubik"/>
                <a:cs typeface="Rubik"/>
                <a:sym typeface="Rubik"/>
              </a:rPr>
              <a:t>יתרונות מרכזיים</a:t>
            </a:r>
            <a:endParaRPr sz="2400" dirty="0"/>
          </a:p>
        </p:txBody>
      </p:sp>
      <p:sp>
        <p:nvSpPr>
          <p:cNvPr id="3" name="תיבת טקסט 2">
            <a:extLst>
              <a:ext uri="{FF2B5EF4-FFF2-40B4-BE49-F238E27FC236}">
                <a16:creationId xmlns:a16="http://schemas.microsoft.com/office/drawing/2014/main" id="{08872871-BF65-35D1-0D7A-EFC03CDC6EA9}"/>
              </a:ext>
            </a:extLst>
          </p:cNvPr>
          <p:cNvSpPr txBox="1"/>
          <p:nvPr/>
        </p:nvSpPr>
        <p:spPr>
          <a:xfrm>
            <a:off x="7247822" y="1777402"/>
            <a:ext cx="2912073" cy="1200329"/>
          </a:xfrm>
          <a:prstGeom prst="rect">
            <a:avLst/>
          </a:prstGeom>
          <a:noFill/>
        </p:spPr>
        <p:txBody>
          <a:bodyPr wrap="square" spcCol="0" rtlCol="0">
            <a:spAutoFit/>
          </a:bodyPr>
          <a:lstStyle/>
          <a:p>
            <a:pPr algn="ctr" rtl="1">
              <a:buClr>
                <a:schemeClr val="bg1"/>
              </a:buClr>
            </a:pPr>
            <a:r>
              <a:rPr lang="he-IL" sz="1800" dirty="0">
                <a:solidFill>
                  <a:schemeClr val="lt1"/>
                </a:solidFill>
                <a:latin typeface="Rubik" panose="020B0604020202020204" charset="-79"/>
                <a:cs typeface="Rubik" panose="020B0604020202020204" charset="-79"/>
              </a:rPr>
              <a:t>דאטה מגוונת ומייצגת</a:t>
            </a:r>
          </a:p>
          <a:p>
            <a:pPr algn="ctr" rtl="1">
              <a:buClr>
                <a:schemeClr val="bg1"/>
              </a:buClr>
            </a:pPr>
            <a:r>
              <a:rPr lang="he-IL" sz="1800" dirty="0">
                <a:solidFill>
                  <a:schemeClr val="lt1"/>
                </a:solidFill>
                <a:latin typeface="Rubik" panose="020B0604020202020204" charset="-79"/>
                <a:cs typeface="Rubik" panose="020B0604020202020204" charset="-79"/>
              </a:rPr>
              <a:t>בניית משתנה המטרה</a:t>
            </a:r>
          </a:p>
          <a:p>
            <a:pPr algn="ctr" rtl="1">
              <a:buClr>
                <a:schemeClr val="bg1"/>
              </a:buClr>
            </a:pPr>
            <a:r>
              <a:rPr lang="he-IL" sz="1800" dirty="0">
                <a:solidFill>
                  <a:schemeClr val="lt1"/>
                </a:solidFill>
                <a:latin typeface="Rubik" panose="020B0604020202020204" charset="-79"/>
                <a:cs typeface="Rubik" panose="020B0604020202020204" charset="-79"/>
              </a:rPr>
              <a:t>מודל היברידי משופר</a:t>
            </a:r>
          </a:p>
          <a:p>
            <a:pPr algn="ctr" rtl="1">
              <a:buClr>
                <a:schemeClr val="bg1"/>
              </a:buClr>
            </a:pPr>
            <a:r>
              <a:rPr lang="he-IL" sz="1800" dirty="0">
                <a:solidFill>
                  <a:schemeClr val="lt1"/>
                </a:solidFill>
                <a:latin typeface="Rubik" panose="020B0604020202020204" charset="-79"/>
                <a:cs typeface="Rubik" panose="020B0604020202020204" charset="-79"/>
              </a:rPr>
              <a:t>שקיפות </a:t>
            </a:r>
            <a:r>
              <a:rPr lang="he-IL" sz="1800" dirty="0" err="1">
                <a:solidFill>
                  <a:schemeClr val="lt1"/>
                </a:solidFill>
                <a:latin typeface="Rubik" panose="020B0604020202020204" charset="-79"/>
                <a:cs typeface="Rubik" panose="020B0604020202020204" charset="-79"/>
              </a:rPr>
              <a:t>והסבריות</a:t>
            </a:r>
            <a:r>
              <a:rPr lang="he-IL" sz="1800" dirty="0">
                <a:solidFill>
                  <a:schemeClr val="lt1"/>
                </a:solidFill>
                <a:latin typeface="Rubik" panose="020B0604020202020204" charset="-79"/>
                <a:cs typeface="Rubik" panose="020B0604020202020204" charset="-79"/>
              </a:rPr>
              <a:t> (</a:t>
            </a:r>
            <a:r>
              <a:rPr lang="en-US" sz="1800" dirty="0">
                <a:solidFill>
                  <a:schemeClr val="lt1"/>
                </a:solidFill>
                <a:latin typeface="Rubik" panose="020B0604020202020204" charset="-79"/>
                <a:cs typeface="Rubik" panose="020B0604020202020204" charset="-79"/>
              </a:rPr>
              <a:t>XAI</a:t>
            </a:r>
            <a:r>
              <a:rPr lang="he-IL" sz="1800" dirty="0">
                <a:solidFill>
                  <a:schemeClr val="lt1"/>
                </a:solidFill>
                <a:latin typeface="Rubik" panose="020B0604020202020204" charset="-79"/>
                <a:cs typeface="Rubik" panose="020B0604020202020204" charset="-79"/>
              </a:rPr>
              <a:t>)</a:t>
            </a:r>
          </a:p>
        </p:txBody>
      </p:sp>
      <p:pic>
        <p:nvPicPr>
          <p:cNvPr id="5" name="Google Shape;162;p20" descr="image.png">
            <a:extLst>
              <a:ext uri="{FF2B5EF4-FFF2-40B4-BE49-F238E27FC236}">
                <a16:creationId xmlns:a16="http://schemas.microsoft.com/office/drawing/2014/main" id="{BC8A70FA-2FA5-35A8-FBDA-8E1B2C399FC2}"/>
              </a:ext>
            </a:extLst>
          </p:cNvPr>
          <p:cNvPicPr preferRelativeResize="0"/>
          <p:nvPr/>
        </p:nvPicPr>
        <p:blipFill rotWithShape="1">
          <a:blip r:embed="rId3">
            <a:alphaModFix/>
          </a:blip>
          <a:srcRect/>
          <a:stretch/>
        </p:blipFill>
        <p:spPr>
          <a:xfrm>
            <a:off x="687774" y="1262592"/>
            <a:ext cx="5395390" cy="1981175"/>
          </a:xfrm>
          <a:prstGeom prst="rect">
            <a:avLst/>
          </a:prstGeom>
          <a:noFill/>
          <a:ln>
            <a:noFill/>
          </a:ln>
        </p:spPr>
      </p:pic>
      <p:sp>
        <p:nvSpPr>
          <p:cNvPr id="7" name="Google Shape;163;p20">
            <a:extLst>
              <a:ext uri="{FF2B5EF4-FFF2-40B4-BE49-F238E27FC236}">
                <a16:creationId xmlns:a16="http://schemas.microsoft.com/office/drawing/2014/main" id="{D17956E1-2EB7-B2F4-FF6B-7D9E9E30A622}"/>
              </a:ext>
            </a:extLst>
          </p:cNvPr>
          <p:cNvSpPr txBox="1"/>
          <p:nvPr/>
        </p:nvSpPr>
        <p:spPr>
          <a:xfrm>
            <a:off x="-583626" y="1396112"/>
            <a:ext cx="4970700" cy="369332"/>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he-IL" sz="2400" b="1" dirty="0">
                <a:solidFill>
                  <a:srgbClr val="06B6D4"/>
                </a:solidFill>
                <a:latin typeface="Rubik"/>
                <a:ea typeface="Rubik"/>
                <a:cs typeface="Rubik"/>
                <a:sym typeface="Rubik"/>
              </a:rPr>
              <a:t>אתגרים מרכזיים</a:t>
            </a:r>
            <a:endParaRPr sz="1800" dirty="0"/>
          </a:p>
        </p:txBody>
      </p:sp>
      <p:sp>
        <p:nvSpPr>
          <p:cNvPr id="9" name="תיבת טקסט 8">
            <a:extLst>
              <a:ext uri="{FF2B5EF4-FFF2-40B4-BE49-F238E27FC236}">
                <a16:creationId xmlns:a16="http://schemas.microsoft.com/office/drawing/2014/main" id="{69ECC3EE-FE1D-B2BD-2BE1-EF3A8A29BD3F}"/>
              </a:ext>
            </a:extLst>
          </p:cNvPr>
          <p:cNvSpPr txBox="1"/>
          <p:nvPr/>
        </p:nvSpPr>
        <p:spPr>
          <a:xfrm>
            <a:off x="1081760" y="1915901"/>
            <a:ext cx="4607417" cy="923330"/>
          </a:xfrm>
          <a:prstGeom prst="rect">
            <a:avLst/>
          </a:prstGeom>
          <a:noFill/>
        </p:spPr>
        <p:txBody>
          <a:bodyPr wrap="square" rtlCol="0">
            <a:spAutoFit/>
          </a:bodyPr>
          <a:lstStyle/>
          <a:p>
            <a:pPr algn="ctr" rtl="1">
              <a:buClr>
                <a:schemeClr val="bg1"/>
              </a:buClr>
            </a:pPr>
            <a:r>
              <a:rPr lang="he-IL" sz="1800" dirty="0">
                <a:solidFill>
                  <a:schemeClr val="lt1"/>
                </a:solidFill>
                <a:latin typeface="Rubik" panose="020B0604020202020204" charset="-79"/>
                <a:cs typeface="Rubik" panose="020B0604020202020204" charset="-79"/>
              </a:rPr>
              <a:t>ערכים חסרים מבניים</a:t>
            </a:r>
          </a:p>
          <a:p>
            <a:pPr algn="ctr" rtl="1">
              <a:buClr>
                <a:schemeClr val="bg1"/>
              </a:buClr>
            </a:pPr>
            <a:r>
              <a:rPr lang="he-IL" sz="1800" dirty="0">
                <a:solidFill>
                  <a:schemeClr val="lt1"/>
                </a:solidFill>
                <a:latin typeface="Rubik" panose="020B0604020202020204" charset="-79"/>
                <a:cs typeface="Rubik" panose="020B0604020202020204" charset="-79"/>
              </a:rPr>
              <a:t>היעדר "תוויות אמת" חיצוניות ואובייקטיביות</a:t>
            </a:r>
          </a:p>
          <a:p>
            <a:pPr algn="ctr" rtl="1">
              <a:buClr>
                <a:schemeClr val="bg1"/>
              </a:buClr>
            </a:pPr>
            <a:r>
              <a:rPr lang="he-IL" sz="1800" dirty="0">
                <a:solidFill>
                  <a:schemeClr val="lt1"/>
                </a:solidFill>
                <a:latin typeface="Rubik" panose="020B0604020202020204" charset="-79"/>
                <a:cs typeface="Rubik" panose="020B0604020202020204" charset="-79"/>
              </a:rPr>
              <a:t>מציאת מודל מיטבי</a:t>
            </a:r>
          </a:p>
        </p:txBody>
      </p:sp>
      <p:pic>
        <p:nvPicPr>
          <p:cNvPr id="11" name="Google Shape;162;p20" descr="image.png">
            <a:extLst>
              <a:ext uri="{FF2B5EF4-FFF2-40B4-BE49-F238E27FC236}">
                <a16:creationId xmlns:a16="http://schemas.microsoft.com/office/drawing/2014/main" id="{D94F805F-9D33-3CBD-F9CE-D2147F3D65D3}"/>
              </a:ext>
            </a:extLst>
          </p:cNvPr>
          <p:cNvPicPr preferRelativeResize="0"/>
          <p:nvPr/>
        </p:nvPicPr>
        <p:blipFill rotWithShape="1">
          <a:blip r:embed="rId3">
            <a:alphaModFix/>
          </a:blip>
          <a:srcRect/>
          <a:stretch/>
        </p:blipFill>
        <p:spPr>
          <a:xfrm>
            <a:off x="570300" y="3309385"/>
            <a:ext cx="10909650" cy="3428350"/>
          </a:xfrm>
          <a:prstGeom prst="rect">
            <a:avLst/>
          </a:prstGeom>
          <a:noFill/>
          <a:ln>
            <a:noFill/>
          </a:ln>
        </p:spPr>
      </p:pic>
      <p:sp>
        <p:nvSpPr>
          <p:cNvPr id="13" name="תיבת טקסט 12">
            <a:extLst>
              <a:ext uri="{FF2B5EF4-FFF2-40B4-BE49-F238E27FC236}">
                <a16:creationId xmlns:a16="http://schemas.microsoft.com/office/drawing/2014/main" id="{2DBE0AC9-34CB-427F-B39B-0BC2DC30E20C}"/>
              </a:ext>
            </a:extLst>
          </p:cNvPr>
          <p:cNvSpPr txBox="1"/>
          <p:nvPr/>
        </p:nvSpPr>
        <p:spPr>
          <a:xfrm>
            <a:off x="414903" y="3588044"/>
            <a:ext cx="10909650" cy="2637260"/>
          </a:xfrm>
          <a:prstGeom prst="rect">
            <a:avLst/>
          </a:prstGeom>
          <a:noFill/>
        </p:spPr>
        <p:txBody>
          <a:bodyPr wrap="square" rtlCol="0">
            <a:spAutoFit/>
          </a:bodyPr>
          <a:lstStyle/>
          <a:p>
            <a:pPr marL="342900" indent="-342900" algn="r" rtl="1">
              <a:lnSpc>
                <a:spcPct val="150000"/>
              </a:lnSpc>
              <a:buClr>
                <a:schemeClr val="bg1"/>
              </a:buClr>
              <a:buFont typeface="Arial" panose="020B0604020202020204" pitchFamily="34" charset="0"/>
              <a:buChar char="•"/>
            </a:pPr>
            <a:r>
              <a:rPr lang="he-IL" sz="1600" b="1" dirty="0">
                <a:solidFill>
                  <a:schemeClr val="lt1"/>
                </a:solidFill>
                <a:latin typeface="Rubik" panose="020B0604020202020204" charset="-79"/>
                <a:cs typeface="Rubik" panose="020B0604020202020204" charset="-79"/>
              </a:rPr>
              <a:t>מעבר להסקה בזמן אמת:</a:t>
            </a:r>
          </a:p>
          <a:p>
            <a:pPr algn="r" rtl="1">
              <a:lnSpc>
                <a:spcPct val="150000"/>
              </a:lnSpc>
              <a:buClr>
                <a:schemeClr val="bg1"/>
              </a:buClr>
            </a:pPr>
            <a:r>
              <a:rPr lang="he-IL" sz="1600" b="1" dirty="0">
                <a:solidFill>
                  <a:schemeClr val="lt1"/>
                </a:solidFill>
                <a:latin typeface="Rubik" panose="020B0604020202020204" charset="-79"/>
                <a:cs typeface="Rubik" panose="020B0604020202020204" charset="-79"/>
              </a:rPr>
              <a:t>	</a:t>
            </a:r>
            <a:r>
              <a:rPr lang="he-IL" sz="1600" dirty="0">
                <a:solidFill>
                  <a:schemeClr val="lt1"/>
                </a:solidFill>
                <a:latin typeface="Rubik" panose="020B0604020202020204" charset="-79"/>
                <a:cs typeface="Rubik" panose="020B0604020202020204" charset="-79"/>
              </a:rPr>
              <a:t>בניית דף אינטרנט דינמי קבוע ברשת האינטרנט</a:t>
            </a:r>
          </a:p>
          <a:p>
            <a:pPr marL="342900" indent="-342900" algn="r" rtl="1">
              <a:lnSpc>
                <a:spcPct val="150000"/>
              </a:lnSpc>
              <a:buClr>
                <a:schemeClr val="bg1"/>
              </a:buClr>
              <a:buFont typeface="Arial" panose="020B0604020202020204" pitchFamily="34" charset="0"/>
              <a:buChar char="•"/>
            </a:pPr>
            <a:r>
              <a:rPr lang="he-IL" sz="1600" b="1" dirty="0">
                <a:solidFill>
                  <a:schemeClr val="lt1"/>
                </a:solidFill>
                <a:latin typeface="Rubik" panose="020B0604020202020204" charset="-79"/>
                <a:cs typeface="Rubik" panose="020B0604020202020204" charset="-79"/>
              </a:rPr>
              <a:t>בחינת ארכיטקטורות </a:t>
            </a:r>
            <a:r>
              <a:rPr lang="en-US" sz="1600" b="1" dirty="0">
                <a:solidFill>
                  <a:schemeClr val="lt1"/>
                </a:solidFill>
                <a:latin typeface="Rubik" panose="020B0604020202020204" charset="-79"/>
                <a:cs typeface="Rubik" panose="020B0604020202020204" charset="-79"/>
              </a:rPr>
              <a:t>Deep Learning</a:t>
            </a:r>
            <a:r>
              <a:rPr lang="he-IL" sz="1600" b="1" dirty="0">
                <a:solidFill>
                  <a:schemeClr val="lt1"/>
                </a:solidFill>
                <a:latin typeface="Rubik" panose="020B0604020202020204" charset="-79"/>
                <a:cs typeface="Rubik" panose="020B0604020202020204" charset="-79"/>
              </a:rPr>
              <a:t>: </a:t>
            </a:r>
          </a:p>
          <a:p>
            <a:pPr lvl="1" algn="r" rtl="1">
              <a:lnSpc>
                <a:spcPct val="150000"/>
              </a:lnSpc>
              <a:buClr>
                <a:schemeClr val="bg1"/>
              </a:buClr>
            </a:pPr>
            <a:r>
              <a:rPr lang="he-IL" sz="1600" b="1" dirty="0">
                <a:solidFill>
                  <a:schemeClr val="lt1"/>
                </a:solidFill>
                <a:latin typeface="Rubik" panose="020B0604020202020204" charset="-79"/>
                <a:cs typeface="Rubik" panose="020B0604020202020204" charset="-79"/>
              </a:rPr>
              <a:t>	</a:t>
            </a:r>
            <a:r>
              <a:rPr lang="he-IL" sz="1600" dirty="0">
                <a:solidFill>
                  <a:schemeClr val="lt1"/>
                </a:solidFill>
                <a:latin typeface="Rubik" panose="020B0604020202020204" charset="-79"/>
                <a:cs typeface="Rubik" panose="020B0604020202020204" charset="-79"/>
              </a:rPr>
              <a:t>בחינת רשתות נוירונים עמוקות או </a:t>
            </a:r>
            <a:r>
              <a:rPr lang="en-US" sz="1600" dirty="0">
                <a:solidFill>
                  <a:schemeClr val="lt1"/>
                </a:solidFill>
                <a:latin typeface="Rubik" panose="020B0604020202020204" charset="-79"/>
                <a:cs typeface="Rubik" panose="020B0604020202020204" charset="-79"/>
              </a:rPr>
              <a:t> Auto-encoders</a:t>
            </a:r>
            <a:r>
              <a:rPr lang="he-IL" sz="1600" dirty="0">
                <a:solidFill>
                  <a:schemeClr val="lt1"/>
                </a:solidFill>
                <a:latin typeface="Rubik" panose="020B0604020202020204" charset="-79"/>
                <a:cs typeface="Rubik" panose="020B0604020202020204" charset="-79"/>
              </a:rPr>
              <a:t>לזיהוי אנומליות וייצוג דחוס של הנתונים הפיננסיים.</a:t>
            </a:r>
          </a:p>
          <a:p>
            <a:pPr marL="342900" indent="-342900" algn="r" rtl="1">
              <a:lnSpc>
                <a:spcPct val="150000"/>
              </a:lnSpc>
              <a:buClr>
                <a:schemeClr val="bg1"/>
              </a:buClr>
              <a:buFont typeface="Arial" panose="020B0604020202020204" pitchFamily="34" charset="0"/>
              <a:buChar char="•"/>
            </a:pPr>
            <a:r>
              <a:rPr lang="he-IL" sz="1600" b="1" dirty="0">
                <a:solidFill>
                  <a:schemeClr val="lt1"/>
                </a:solidFill>
                <a:latin typeface="Rubik" panose="020B0604020202020204" charset="-79"/>
                <a:cs typeface="Rubik" panose="020B0604020202020204" charset="-79"/>
              </a:rPr>
              <a:t>אימות מול מקורות חיצוניים: </a:t>
            </a:r>
          </a:p>
          <a:p>
            <a:pPr algn="r" rtl="1">
              <a:lnSpc>
                <a:spcPct val="150000"/>
              </a:lnSpc>
              <a:buClr>
                <a:schemeClr val="bg1"/>
              </a:buClr>
            </a:pPr>
            <a:r>
              <a:rPr lang="he-IL" sz="1600" b="1" dirty="0">
                <a:solidFill>
                  <a:schemeClr val="lt1"/>
                </a:solidFill>
                <a:latin typeface="Rubik" panose="020B0604020202020204" charset="-79"/>
                <a:cs typeface="Rubik" panose="020B0604020202020204" charset="-79"/>
              </a:rPr>
              <a:t>	</a:t>
            </a:r>
            <a:r>
              <a:rPr lang="he-IL" sz="1600" dirty="0">
                <a:solidFill>
                  <a:schemeClr val="lt1"/>
                </a:solidFill>
                <a:latin typeface="Rubik" panose="020B0604020202020204" charset="-79"/>
                <a:cs typeface="Rubik" panose="020B0604020202020204" charset="-79"/>
              </a:rPr>
              <a:t>הצלבת ממצאי המודל עם נתונים מנהליים של משרד הרווחה או הגופים המממנים כדי לשפר את דיוק הניבוי </a:t>
            </a:r>
            <a:br>
              <a:rPr lang="en-US" sz="1600" dirty="0">
                <a:solidFill>
                  <a:schemeClr val="lt1"/>
                </a:solidFill>
                <a:latin typeface="Rubik" panose="020B0604020202020204" charset="-79"/>
                <a:cs typeface="Rubik" panose="020B0604020202020204" charset="-79"/>
              </a:rPr>
            </a:br>
            <a:r>
              <a:rPr lang="he-IL" sz="1600" dirty="0">
                <a:solidFill>
                  <a:schemeClr val="lt1"/>
                </a:solidFill>
                <a:latin typeface="Rubik" panose="020B0604020202020204" charset="-79"/>
                <a:cs typeface="Rubik" panose="020B0604020202020204" charset="-79"/>
              </a:rPr>
              <a:t>	של קבוצת המיעוט</a:t>
            </a:r>
          </a:p>
        </p:txBody>
      </p:sp>
      <p:sp>
        <p:nvSpPr>
          <p:cNvPr id="15" name="Google Shape;163;p20">
            <a:extLst>
              <a:ext uri="{FF2B5EF4-FFF2-40B4-BE49-F238E27FC236}">
                <a16:creationId xmlns:a16="http://schemas.microsoft.com/office/drawing/2014/main" id="{2ECAFB2F-A5B4-9586-F31D-1FF15870C6D9}"/>
              </a:ext>
            </a:extLst>
          </p:cNvPr>
          <p:cNvSpPr txBox="1"/>
          <p:nvPr/>
        </p:nvSpPr>
        <p:spPr>
          <a:xfrm>
            <a:off x="4639087" y="3372454"/>
            <a:ext cx="2772075"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he-IL" sz="2400" b="1" dirty="0">
                <a:solidFill>
                  <a:srgbClr val="06B6D4"/>
                </a:solidFill>
                <a:latin typeface="Rubik"/>
                <a:ea typeface="Rubik"/>
                <a:cs typeface="Rubik"/>
                <a:sym typeface="Rubik"/>
              </a:rPr>
              <a:t>מה ניתן לשפר</a:t>
            </a: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Google Shape;160;p20">
            <a:extLst>
              <a:ext uri="{FF2B5EF4-FFF2-40B4-BE49-F238E27FC236}">
                <a16:creationId xmlns:a16="http://schemas.microsoft.com/office/drawing/2014/main" id="{F921131A-AF1D-0B1D-3942-BBC34701869C}"/>
              </a:ext>
            </a:extLst>
          </p:cNvPr>
          <p:cNvSpPr txBox="1"/>
          <p:nvPr/>
        </p:nvSpPr>
        <p:spPr>
          <a:xfrm>
            <a:off x="570300" y="576975"/>
            <a:ext cx="11051400" cy="43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2850" dirty="0">
                <a:solidFill>
                  <a:srgbClr val="F8FAFC"/>
                </a:solidFill>
                <a:latin typeface="Rubik SemiBold"/>
                <a:ea typeface="Rubik SemiBold"/>
                <a:cs typeface="Rubik SemiBold"/>
                <a:sym typeface="Rubik SemiBold"/>
              </a:rPr>
              <a:t>Summary: Operational Risk Scoring from Survey Data</a:t>
            </a:r>
            <a:endParaRPr dirty="0"/>
          </a:p>
        </p:txBody>
      </p:sp>
      <p:sp>
        <p:nvSpPr>
          <p:cNvPr id="5" name="Google Shape;161;p20">
            <a:extLst>
              <a:ext uri="{FF2B5EF4-FFF2-40B4-BE49-F238E27FC236}">
                <a16:creationId xmlns:a16="http://schemas.microsoft.com/office/drawing/2014/main" id="{2B77D1DF-D047-570D-6538-2CD9347762DE}"/>
              </a:ext>
            </a:extLst>
          </p:cNvPr>
          <p:cNvSpPr/>
          <p:nvPr/>
        </p:nvSpPr>
        <p:spPr>
          <a:xfrm>
            <a:off x="581025" y="1162050"/>
            <a:ext cx="11030100" cy="192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7" name="Google Shape;162;p20" descr="image.png">
            <a:extLst>
              <a:ext uri="{FF2B5EF4-FFF2-40B4-BE49-F238E27FC236}">
                <a16:creationId xmlns:a16="http://schemas.microsoft.com/office/drawing/2014/main" id="{DA589CC6-E531-4291-8D38-A484200B4230}"/>
              </a:ext>
            </a:extLst>
          </p:cNvPr>
          <p:cNvPicPr preferRelativeResize="0"/>
          <p:nvPr/>
        </p:nvPicPr>
        <p:blipFill rotWithShape="1">
          <a:blip r:embed="rId3">
            <a:alphaModFix/>
          </a:blip>
          <a:srcRect/>
          <a:stretch/>
        </p:blipFill>
        <p:spPr>
          <a:xfrm>
            <a:off x="783225" y="1327725"/>
            <a:ext cx="10457108" cy="5053874"/>
          </a:xfrm>
          <a:prstGeom prst="rect">
            <a:avLst/>
          </a:prstGeom>
          <a:noFill/>
          <a:ln>
            <a:noFill/>
          </a:ln>
        </p:spPr>
      </p:pic>
      <p:sp>
        <p:nvSpPr>
          <p:cNvPr id="9" name="Google Shape;163;p20">
            <a:extLst>
              <a:ext uri="{FF2B5EF4-FFF2-40B4-BE49-F238E27FC236}">
                <a16:creationId xmlns:a16="http://schemas.microsoft.com/office/drawing/2014/main" id="{CB60693B-987F-6080-B895-BEB297815F42}"/>
              </a:ext>
            </a:extLst>
          </p:cNvPr>
          <p:cNvSpPr txBox="1"/>
          <p:nvPr/>
        </p:nvSpPr>
        <p:spPr>
          <a:xfrm>
            <a:off x="2150818" y="1697086"/>
            <a:ext cx="7890363" cy="369332"/>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he-IL" sz="2400" b="1" dirty="0">
                <a:solidFill>
                  <a:srgbClr val="06B6D4"/>
                </a:solidFill>
                <a:latin typeface="Rubik"/>
                <a:ea typeface="Rubik"/>
                <a:cs typeface="Rubik"/>
                <a:sym typeface="Rubik"/>
              </a:rPr>
              <a:t>מה עשינו?</a:t>
            </a:r>
            <a:endParaRPr lang="he-IL" sz="2400" dirty="0"/>
          </a:p>
        </p:txBody>
      </p:sp>
      <p:sp>
        <p:nvSpPr>
          <p:cNvPr id="11" name="תיבת טקסט 10">
            <a:extLst>
              <a:ext uri="{FF2B5EF4-FFF2-40B4-BE49-F238E27FC236}">
                <a16:creationId xmlns:a16="http://schemas.microsoft.com/office/drawing/2014/main" id="{BD6BA6F2-6E20-6AE1-A09F-D5E221870B36}"/>
              </a:ext>
            </a:extLst>
          </p:cNvPr>
          <p:cNvSpPr txBox="1"/>
          <p:nvPr/>
        </p:nvSpPr>
        <p:spPr>
          <a:xfrm>
            <a:off x="939048" y="2116822"/>
            <a:ext cx="10313901" cy="400110"/>
          </a:xfrm>
          <a:prstGeom prst="rect">
            <a:avLst/>
          </a:prstGeom>
          <a:noFill/>
        </p:spPr>
        <p:txBody>
          <a:bodyPr wrap="square" spcCol="0" rtlCol="0">
            <a:spAutoFit/>
          </a:bodyPr>
          <a:lstStyle/>
          <a:p>
            <a:pPr algn="ctr" rtl="1">
              <a:buClr>
                <a:schemeClr val="bg1"/>
              </a:buClr>
            </a:pPr>
            <a:r>
              <a:rPr lang="he-IL" sz="2000" dirty="0">
                <a:solidFill>
                  <a:schemeClr val="lt1"/>
                </a:solidFill>
                <a:latin typeface="Rubik" panose="020B0604020202020204" charset="-79"/>
                <a:cs typeface="Rubik" panose="020B0604020202020204" charset="-79"/>
              </a:rPr>
              <a:t>פיתוח מערכת </a:t>
            </a:r>
            <a:r>
              <a:rPr lang="en-US" sz="2000" dirty="0">
                <a:solidFill>
                  <a:schemeClr val="lt1"/>
                </a:solidFill>
                <a:latin typeface="Rubik" panose="020B0604020202020204" charset="-79"/>
                <a:cs typeface="Rubik" panose="020B0604020202020204" charset="-79"/>
              </a:rPr>
              <a:t>Risk Scoring</a:t>
            </a:r>
            <a:r>
              <a:rPr lang="he-IL" sz="2000" dirty="0">
                <a:solidFill>
                  <a:schemeClr val="lt1"/>
                </a:solidFill>
                <a:latin typeface="Rubik" panose="020B0604020202020204" charset="-79"/>
                <a:cs typeface="Rubik" panose="020B0604020202020204" charset="-79"/>
              </a:rPr>
              <a:t>, ניתוח נתוני גדולים, מדד מטרה מהימן, הטמעת שקיפות (</a:t>
            </a:r>
            <a:r>
              <a:rPr lang="en-US" sz="2000" dirty="0">
                <a:solidFill>
                  <a:schemeClr val="lt1"/>
                </a:solidFill>
                <a:latin typeface="Rubik" panose="020B0604020202020204" charset="-79"/>
                <a:cs typeface="Rubik" panose="020B0604020202020204" charset="-79"/>
              </a:rPr>
              <a:t>(XAI</a:t>
            </a:r>
            <a:r>
              <a:rPr lang="he-IL" sz="2000" dirty="0">
                <a:solidFill>
                  <a:schemeClr val="lt1"/>
                </a:solidFill>
                <a:latin typeface="Rubik" panose="020B0604020202020204" charset="-79"/>
                <a:cs typeface="Rubik" panose="020B0604020202020204" charset="-79"/>
              </a:rPr>
              <a:t>.</a:t>
            </a:r>
          </a:p>
        </p:txBody>
      </p:sp>
      <p:sp>
        <p:nvSpPr>
          <p:cNvPr id="13" name="Google Shape;163;p20">
            <a:extLst>
              <a:ext uri="{FF2B5EF4-FFF2-40B4-BE49-F238E27FC236}">
                <a16:creationId xmlns:a16="http://schemas.microsoft.com/office/drawing/2014/main" id="{B6B93ADF-F094-F99D-6F04-06B7514FE1E7}"/>
              </a:ext>
            </a:extLst>
          </p:cNvPr>
          <p:cNvSpPr txBox="1"/>
          <p:nvPr/>
        </p:nvSpPr>
        <p:spPr>
          <a:xfrm>
            <a:off x="2150818" y="3152894"/>
            <a:ext cx="7890363" cy="369332"/>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he-IL" sz="2400" b="1" dirty="0">
                <a:solidFill>
                  <a:srgbClr val="06B6D4"/>
                </a:solidFill>
                <a:latin typeface="Rubik"/>
                <a:ea typeface="Rubik"/>
                <a:cs typeface="Rubik"/>
                <a:sym typeface="Rubik"/>
              </a:rPr>
              <a:t>למה זה חשוב?</a:t>
            </a:r>
            <a:endParaRPr lang="he-IL" sz="2400" dirty="0"/>
          </a:p>
        </p:txBody>
      </p:sp>
      <p:sp>
        <p:nvSpPr>
          <p:cNvPr id="15" name="תיבת טקסט 14">
            <a:extLst>
              <a:ext uri="{FF2B5EF4-FFF2-40B4-BE49-F238E27FC236}">
                <a16:creationId xmlns:a16="http://schemas.microsoft.com/office/drawing/2014/main" id="{4B8E54B2-A328-499B-EC4E-386F4AA49218}"/>
              </a:ext>
            </a:extLst>
          </p:cNvPr>
          <p:cNvSpPr txBox="1"/>
          <p:nvPr/>
        </p:nvSpPr>
        <p:spPr>
          <a:xfrm>
            <a:off x="1010653" y="5062260"/>
            <a:ext cx="10313901" cy="707886"/>
          </a:xfrm>
          <a:prstGeom prst="rect">
            <a:avLst/>
          </a:prstGeom>
          <a:noFill/>
        </p:spPr>
        <p:txBody>
          <a:bodyPr wrap="square" spcCol="0" rtlCol="0">
            <a:spAutoFit/>
          </a:bodyPr>
          <a:lstStyle/>
          <a:p>
            <a:pPr algn="ctr" rtl="1">
              <a:buClr>
                <a:schemeClr val="bg1"/>
              </a:buClr>
            </a:pPr>
            <a:r>
              <a:rPr lang="he-IL" sz="2000" dirty="0">
                <a:solidFill>
                  <a:schemeClr val="lt1"/>
                </a:solidFill>
                <a:latin typeface="Rubik" panose="020B0604020202020204" charset="-79"/>
                <a:cs typeface="Rubik" panose="020B0604020202020204" charset="-79"/>
              </a:rPr>
              <a:t>המערכת הופכת נתונים חברתיים סטטיסטיים לכלי ניבוי שקוף ומדויק, המאפשר לבנות חוסן כלכלי ולהושיט יד לקבוצות הסיכון לפני שהקושי הופך למשבר מערכתי.</a:t>
            </a:r>
          </a:p>
        </p:txBody>
      </p:sp>
      <p:sp>
        <p:nvSpPr>
          <p:cNvPr id="17" name="Google Shape;163;p20">
            <a:extLst>
              <a:ext uri="{FF2B5EF4-FFF2-40B4-BE49-F238E27FC236}">
                <a16:creationId xmlns:a16="http://schemas.microsoft.com/office/drawing/2014/main" id="{C771334F-C215-A00E-9FFE-BF8CE1E793ED}"/>
              </a:ext>
            </a:extLst>
          </p:cNvPr>
          <p:cNvSpPr txBox="1"/>
          <p:nvPr/>
        </p:nvSpPr>
        <p:spPr>
          <a:xfrm>
            <a:off x="2150818" y="4627733"/>
            <a:ext cx="7890363" cy="369332"/>
          </a:xfrm>
          <a:prstGeom prst="rect">
            <a:avLst/>
          </a:prstGeom>
          <a:noFill/>
          <a:ln>
            <a:noFill/>
          </a:ln>
        </p:spPr>
        <p:txBody>
          <a:bodyPr spcFirstLastPara="1" wrap="square" lIns="0" tIns="0" rIns="0" bIns="0" anchor="t" anchorCtr="0">
            <a:spAutoFit/>
          </a:bodyPr>
          <a:lstStyle/>
          <a:p>
            <a:pPr marL="0" marR="0" lvl="0" indent="0" algn="ctr" rtl="1">
              <a:spcBef>
                <a:spcPts val="0"/>
              </a:spcBef>
              <a:spcAft>
                <a:spcPts val="0"/>
              </a:spcAft>
              <a:buNone/>
            </a:pPr>
            <a:r>
              <a:rPr lang="he-IL" sz="2400" b="1" dirty="0">
                <a:solidFill>
                  <a:srgbClr val="06B6D4"/>
                </a:solidFill>
                <a:latin typeface="Rubik"/>
                <a:ea typeface="Rubik"/>
                <a:cs typeface="Rubik"/>
                <a:sym typeface="Rubik"/>
              </a:rPr>
              <a:t>המסקנה ברורה</a:t>
            </a:r>
            <a:endParaRPr lang="he-IL" sz="2400" dirty="0"/>
          </a:p>
        </p:txBody>
      </p:sp>
      <p:sp>
        <p:nvSpPr>
          <p:cNvPr id="19" name="תיבת טקסט 18">
            <a:extLst>
              <a:ext uri="{FF2B5EF4-FFF2-40B4-BE49-F238E27FC236}">
                <a16:creationId xmlns:a16="http://schemas.microsoft.com/office/drawing/2014/main" id="{FAF40E47-C6A1-37E0-4334-AD1D5945A999}"/>
              </a:ext>
            </a:extLst>
          </p:cNvPr>
          <p:cNvSpPr txBox="1"/>
          <p:nvPr/>
        </p:nvSpPr>
        <p:spPr>
          <a:xfrm>
            <a:off x="1094874" y="3602119"/>
            <a:ext cx="10313901" cy="400110"/>
          </a:xfrm>
          <a:prstGeom prst="rect">
            <a:avLst/>
          </a:prstGeom>
          <a:noFill/>
        </p:spPr>
        <p:txBody>
          <a:bodyPr wrap="square" spcCol="0" rtlCol="0">
            <a:spAutoFit/>
          </a:bodyPr>
          <a:lstStyle/>
          <a:p>
            <a:pPr algn="ctr" rtl="1">
              <a:buClr>
                <a:schemeClr val="bg1"/>
              </a:buClr>
            </a:pPr>
            <a:r>
              <a:rPr lang="he-IL" sz="2000" dirty="0">
                <a:solidFill>
                  <a:schemeClr val="lt1"/>
                </a:solidFill>
                <a:latin typeface="Rubik" panose="020B0604020202020204" charset="-79"/>
                <a:cs typeface="Rubik" panose="020B0604020202020204" charset="-79"/>
              </a:rPr>
              <a:t>מניעה פרו-אקטיבית, ייעול משאבים (</a:t>
            </a:r>
            <a:r>
              <a:rPr lang="en-US" sz="2000" dirty="0">
                <a:solidFill>
                  <a:schemeClr val="lt1"/>
                </a:solidFill>
                <a:latin typeface="Rubik" panose="020B0604020202020204" charset="-79"/>
                <a:cs typeface="Rubik" panose="020B0604020202020204" charset="-79"/>
              </a:rPr>
              <a:t>High ROI</a:t>
            </a:r>
            <a:r>
              <a:rPr lang="he-IL" sz="2000" dirty="0">
                <a:solidFill>
                  <a:schemeClr val="lt1"/>
                </a:solidFill>
                <a:latin typeface="Rubik" panose="020B0604020202020204" charset="-79"/>
                <a:cs typeface="Rubik" panose="020B0604020202020204" charset="-79"/>
              </a:rPr>
              <a:t>), קבלת החלטות אתית.</a:t>
            </a:r>
          </a:p>
        </p:txBody>
      </p:sp>
    </p:spTree>
    <p:extLst>
      <p:ext uri="{BB962C8B-B14F-4D97-AF65-F5344CB8AC3E}">
        <p14:creationId xmlns:p14="http://schemas.microsoft.com/office/powerpoint/2010/main" val="358081924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Google Shape;88;p13">
            <a:extLst>
              <a:ext uri="{FF2B5EF4-FFF2-40B4-BE49-F238E27FC236}">
                <a16:creationId xmlns:a16="http://schemas.microsoft.com/office/drawing/2014/main" id="{4CA47E3A-ADD1-D118-C241-C32616ADC99C}"/>
              </a:ext>
            </a:extLst>
          </p:cNvPr>
          <p:cNvSpPr txBox="1"/>
          <p:nvPr/>
        </p:nvSpPr>
        <p:spPr>
          <a:xfrm>
            <a:off x="2610150" y="2200971"/>
            <a:ext cx="6971700" cy="2456057"/>
          </a:xfrm>
          <a:prstGeom prst="rect">
            <a:avLst/>
          </a:prstGeom>
          <a:noFill/>
          <a:ln>
            <a:noFill/>
          </a:ln>
        </p:spPr>
        <p:txBody>
          <a:bodyPr spcFirstLastPara="1" wrap="square" lIns="0" tIns="0" rIns="0" bIns="0" anchor="t" anchorCtr="0">
            <a:spAutoFit/>
          </a:bodyPr>
          <a:lstStyle/>
          <a:p>
            <a:pPr marL="0" marR="0" lvl="0" indent="0" algn="ctr" rtl="1">
              <a:lnSpc>
                <a:spcPct val="133333"/>
              </a:lnSpc>
              <a:spcBef>
                <a:spcPts val="0"/>
              </a:spcBef>
              <a:spcAft>
                <a:spcPts val="0"/>
              </a:spcAft>
              <a:buNone/>
            </a:pPr>
            <a:r>
              <a:rPr lang="he-IL" sz="6000" b="1" dirty="0">
                <a:solidFill>
                  <a:srgbClr val="1E293B"/>
                </a:solidFill>
                <a:latin typeface="Rubik"/>
                <a:cs typeface="Rubik"/>
                <a:sym typeface="Rubik"/>
              </a:rPr>
              <a:t>תודה על ההקשבה</a:t>
            </a:r>
          </a:p>
          <a:p>
            <a:pPr marL="0" marR="0" lvl="0" indent="0" algn="ctr" rtl="1">
              <a:lnSpc>
                <a:spcPct val="133333"/>
              </a:lnSpc>
              <a:spcBef>
                <a:spcPts val="0"/>
              </a:spcBef>
              <a:spcAft>
                <a:spcPts val="0"/>
              </a:spcAft>
              <a:buNone/>
            </a:pPr>
            <a:r>
              <a:rPr lang="he-IL" sz="6000" b="1" dirty="0">
                <a:solidFill>
                  <a:srgbClr val="1E293B"/>
                </a:solidFill>
                <a:latin typeface="Rubik"/>
                <a:cs typeface="Rubik"/>
                <a:sym typeface="Rubik"/>
              </a:rPr>
              <a:t>בהצלחה לכולם!</a:t>
            </a:r>
            <a:endParaRPr lang="en-US" sz="6000" b="1" dirty="0">
              <a:solidFill>
                <a:srgbClr val="1E293B"/>
              </a:solidFill>
              <a:latin typeface="Rubik"/>
              <a:cs typeface="Rubik"/>
              <a:sym typeface="Rubik"/>
            </a:endParaRPr>
          </a:p>
        </p:txBody>
      </p:sp>
    </p:spTree>
    <p:extLst>
      <p:ext uri="{BB962C8B-B14F-4D97-AF65-F5344CB8AC3E}">
        <p14:creationId xmlns:p14="http://schemas.microsoft.com/office/powerpoint/2010/main" val="2193851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6" name="לחצן פעולה: חזרה 5">
            <a:hlinkClick r:id="rId2" action="ppaction://hlinksldjump" highlightClick="1"/>
            <a:extLst>
              <a:ext uri="{FF2B5EF4-FFF2-40B4-BE49-F238E27FC236}">
                <a16:creationId xmlns:a16="http://schemas.microsoft.com/office/drawing/2014/main" id="{0CBBD18C-DA1C-EF71-3EB1-F41AD17EC166}"/>
              </a:ext>
            </a:extLst>
          </p:cNvPr>
          <p:cNvSpPr/>
          <p:nvPr/>
        </p:nvSpPr>
        <p:spPr>
          <a:xfrm>
            <a:off x="10335127" y="6015789"/>
            <a:ext cx="469231" cy="445245"/>
          </a:xfrm>
          <a:prstGeom prst="actionButtonReturn">
            <a:avLst/>
          </a:prstGeom>
          <a:gradFill>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aphicFrame>
        <p:nvGraphicFramePr>
          <p:cNvPr id="2" name="טבלה 1">
            <a:extLst>
              <a:ext uri="{FF2B5EF4-FFF2-40B4-BE49-F238E27FC236}">
                <a16:creationId xmlns:a16="http://schemas.microsoft.com/office/drawing/2014/main" id="{499CD1A5-01FF-C11C-5E51-1F77D9296C35}"/>
              </a:ext>
            </a:extLst>
          </p:cNvPr>
          <p:cNvGraphicFramePr>
            <a:graphicFrameLocks noGrp="1"/>
          </p:cNvGraphicFramePr>
          <p:nvPr>
            <p:extLst>
              <p:ext uri="{D42A27DB-BD31-4B8C-83A1-F6EECF244321}">
                <p14:modId xmlns:p14="http://schemas.microsoft.com/office/powerpoint/2010/main" val="2434547254"/>
              </p:ext>
            </p:extLst>
          </p:nvPr>
        </p:nvGraphicFramePr>
        <p:xfrm>
          <a:off x="2032000" y="2740478"/>
          <a:ext cx="8128000" cy="1377044"/>
        </p:xfrm>
        <a:graphic>
          <a:graphicData uri="http://schemas.openxmlformats.org/drawingml/2006/table">
            <a:tbl>
              <a:tblPr firstRow="1" bandRow="1">
                <a:effectLst>
                  <a:outerShdw blurRad="50800" dist="50800" dir="1200000" algn="ctr" rotWithShape="0">
                    <a:srgbClr val="000000">
                      <a:alpha val="43137"/>
                    </a:srgbClr>
                  </a:outerShdw>
                  <a:reflection blurRad="101600" stA="45000" endPos="65000" dist="50800" dir="5400000" sy="-100000" algn="bl" rotWithShape="0"/>
                </a:effectLst>
                <a:tableStyleId>{5C22544A-7EE6-4342-B048-85BDC9FD1C3A}</a:tableStyleId>
              </a:tblPr>
              <a:tblGrid>
                <a:gridCol w="2032000">
                  <a:extLst>
                    <a:ext uri="{9D8B030D-6E8A-4147-A177-3AD203B41FA5}">
                      <a16:colId xmlns:a16="http://schemas.microsoft.com/office/drawing/2014/main" val="3091336539"/>
                    </a:ext>
                  </a:extLst>
                </a:gridCol>
                <a:gridCol w="2032000">
                  <a:extLst>
                    <a:ext uri="{9D8B030D-6E8A-4147-A177-3AD203B41FA5}">
                      <a16:colId xmlns:a16="http://schemas.microsoft.com/office/drawing/2014/main" val="1216280744"/>
                    </a:ext>
                  </a:extLst>
                </a:gridCol>
                <a:gridCol w="2032000">
                  <a:extLst>
                    <a:ext uri="{9D8B030D-6E8A-4147-A177-3AD203B41FA5}">
                      <a16:colId xmlns:a16="http://schemas.microsoft.com/office/drawing/2014/main" val="3811209960"/>
                    </a:ext>
                  </a:extLst>
                </a:gridCol>
                <a:gridCol w="2032000">
                  <a:extLst>
                    <a:ext uri="{9D8B030D-6E8A-4147-A177-3AD203B41FA5}">
                      <a16:colId xmlns:a16="http://schemas.microsoft.com/office/drawing/2014/main" val="623380636"/>
                    </a:ext>
                  </a:extLst>
                </a:gridCol>
              </a:tblGrid>
              <a:tr h="522515">
                <a:tc>
                  <a:txBody>
                    <a:bodyPr/>
                    <a:lstStyle/>
                    <a:p>
                      <a:pPr algn="ctr" rtl="0"/>
                      <a:r>
                        <a:rPr lang="en-IL" sz="1400" b="1" i="0" u="none" strike="noStrike" cap="none" dirty="0">
                          <a:ln>
                            <a:noFill/>
                          </a:ln>
                          <a:solidFill>
                            <a:schemeClr val="bg2"/>
                          </a:solidFill>
                          <a:effectLst/>
                          <a:latin typeface="Rubik" panose="020B0604020202020204" charset="-79"/>
                          <a:ea typeface="+mn-ea"/>
                          <a:cs typeface="Rubik" panose="020B0604020202020204" charset="-79"/>
                          <a:sym typeface="Arial"/>
                        </a:rPr>
                        <a:t>Model</a:t>
                      </a:r>
                      <a:endParaRPr lang="en-IL" b="1" dirty="0">
                        <a:ln>
                          <a:noFill/>
                        </a:ln>
                        <a:solidFill>
                          <a:schemeClr val="bg2"/>
                        </a:solidFill>
                        <a:latin typeface="Rubik" panose="020B0604020202020204" charset="-79"/>
                        <a:cs typeface="Rubik" panose="020B060402020202020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sz="1400" b="1" i="0" u="none" strike="noStrike" cap="none" dirty="0">
                          <a:ln>
                            <a:noFill/>
                          </a:ln>
                          <a:solidFill>
                            <a:schemeClr val="bg2"/>
                          </a:solidFill>
                          <a:effectLst/>
                          <a:latin typeface="Rubik" panose="020B0604020202020204" charset="-79"/>
                          <a:ea typeface="+mn-ea"/>
                          <a:cs typeface="Rubik" panose="020B0604020202020204" charset="-79"/>
                          <a:sym typeface="Arial"/>
                        </a:rPr>
                        <a:t>Accuracy</a:t>
                      </a:r>
                      <a:endParaRPr lang="en-IL" b="1" dirty="0">
                        <a:ln>
                          <a:noFill/>
                        </a:ln>
                        <a:solidFill>
                          <a:schemeClr val="bg2"/>
                        </a:solidFill>
                        <a:latin typeface="Rubik" panose="020B0604020202020204" charset="-79"/>
                        <a:cs typeface="Rubik" panose="020B060402020202020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sz="1400" b="1" i="0" u="none" strike="noStrike" cap="none" dirty="0" err="1">
                          <a:ln>
                            <a:noFill/>
                          </a:ln>
                          <a:solidFill>
                            <a:schemeClr val="bg2"/>
                          </a:solidFill>
                          <a:effectLst/>
                          <a:latin typeface="Rubik" panose="020B0604020202020204" charset="-79"/>
                          <a:ea typeface="+mn-ea"/>
                          <a:cs typeface="Rubik" panose="020B0604020202020204" charset="-79"/>
                          <a:sym typeface="Arial"/>
                        </a:rPr>
                        <a:t>F1</a:t>
                      </a:r>
                      <a:r>
                        <a:rPr lang="en-IL" sz="1400" b="1" i="0" u="none" strike="noStrike" cap="none" dirty="0">
                          <a:ln>
                            <a:noFill/>
                          </a:ln>
                          <a:solidFill>
                            <a:schemeClr val="bg2"/>
                          </a:solidFill>
                          <a:effectLst/>
                          <a:latin typeface="Rubik" panose="020B0604020202020204" charset="-79"/>
                          <a:ea typeface="+mn-ea"/>
                          <a:cs typeface="Rubik" panose="020B0604020202020204" charset="-79"/>
                          <a:sym typeface="Arial"/>
                        </a:rPr>
                        <a:t> Score</a:t>
                      </a:r>
                      <a:endParaRPr lang="en-IL" b="1" dirty="0">
                        <a:ln>
                          <a:noFill/>
                        </a:ln>
                        <a:solidFill>
                          <a:schemeClr val="bg2"/>
                        </a:solidFill>
                        <a:latin typeface="Rubik" panose="020B0604020202020204" charset="-79"/>
                        <a:cs typeface="Rubik" panose="020B060402020202020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sz="1400" b="1" i="0" u="none" strike="noStrike" cap="none" dirty="0">
                          <a:ln>
                            <a:noFill/>
                          </a:ln>
                          <a:solidFill>
                            <a:schemeClr val="bg2"/>
                          </a:solidFill>
                          <a:effectLst/>
                          <a:latin typeface="Rubik" panose="020B0604020202020204" charset="-79"/>
                          <a:ea typeface="+mn-ea"/>
                          <a:cs typeface="Rubik" panose="020B0604020202020204" charset="-79"/>
                          <a:sym typeface="Arial"/>
                        </a:rPr>
                        <a:t>Recall</a:t>
                      </a:r>
                      <a:endParaRPr lang="en-IL" b="1" dirty="0">
                        <a:ln>
                          <a:noFill/>
                        </a:ln>
                        <a:solidFill>
                          <a:schemeClr val="bg2"/>
                        </a:solidFill>
                        <a:latin typeface="Rubik" panose="020B0604020202020204" charset="-79"/>
                        <a:cs typeface="Rubik" panose="020B060402020202020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611712364"/>
                  </a:ext>
                </a:extLst>
              </a:tr>
              <a:tr h="854529">
                <a:tc>
                  <a:txBody>
                    <a:bodyPr/>
                    <a:lstStyle/>
                    <a:p>
                      <a:pPr algn="ctr" rtl="0"/>
                      <a:r>
                        <a:rPr lang="en-US" b="1" dirty="0" err="1">
                          <a:ln>
                            <a:noFill/>
                          </a:ln>
                          <a:solidFill>
                            <a:schemeClr val="bg2"/>
                          </a:solidFill>
                          <a:latin typeface="Rubik" panose="020B0604020202020204" charset="-79"/>
                          <a:cs typeface="Rubik" panose="020B0604020202020204" charset="-79"/>
                        </a:rPr>
                        <a:t>DummyClass</a:t>
                      </a:r>
                      <a:r>
                        <a:rPr lang="en-US" b="1" dirty="0">
                          <a:ln>
                            <a:noFill/>
                          </a:ln>
                          <a:solidFill>
                            <a:schemeClr val="bg2"/>
                          </a:solidFill>
                          <a:latin typeface="Rubik" panose="020B0604020202020204" charset="-79"/>
                          <a:cs typeface="Rubik" panose="020B0604020202020204" charset="-79"/>
                        </a:rPr>
                        <a:t>. ('uniform')</a:t>
                      </a:r>
                      <a:endParaRPr lang="en-IL" b="1" dirty="0">
                        <a:ln>
                          <a:noFill/>
                        </a:ln>
                        <a:solidFill>
                          <a:schemeClr val="bg2"/>
                        </a:solidFill>
                        <a:latin typeface="Rubik" panose="020B0604020202020204" charset="-79"/>
                        <a:cs typeface="Rubik" panose="020B0604020202020204"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b="1" dirty="0">
                          <a:ln>
                            <a:noFill/>
                          </a:ln>
                          <a:solidFill>
                            <a:schemeClr val="bg2"/>
                          </a:solidFill>
                          <a:latin typeface="Rubik" panose="020B0604020202020204" charset="-79"/>
                          <a:cs typeface="Rubik" panose="020B0604020202020204" charset="-79"/>
                        </a:rPr>
                        <a:t>0.504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b="1" dirty="0">
                          <a:ln>
                            <a:noFill/>
                          </a:ln>
                          <a:solidFill>
                            <a:schemeClr val="bg2"/>
                          </a:solidFill>
                          <a:latin typeface="Rubik" panose="020B0604020202020204" charset="-79"/>
                          <a:cs typeface="Rubik" panose="020B0604020202020204" charset="-79"/>
                        </a:rPr>
                        <a:t>0.312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rtl="0"/>
                      <a:r>
                        <a:rPr lang="en-IL" b="1" dirty="0">
                          <a:ln>
                            <a:noFill/>
                          </a:ln>
                          <a:solidFill>
                            <a:schemeClr val="bg2"/>
                          </a:solidFill>
                          <a:latin typeface="Rubik" panose="020B0604020202020204" charset="-79"/>
                          <a:cs typeface="Rubik" panose="020B0604020202020204" charset="-79"/>
                        </a:rPr>
                        <a:t>0.489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0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2087034734"/>
                  </a:ext>
                </a:extLst>
              </a:tr>
            </a:tbl>
          </a:graphicData>
        </a:graphic>
      </p:graphicFrame>
      <p:sp>
        <p:nvSpPr>
          <p:cNvPr id="5" name="Google Shape;88;p13">
            <a:extLst>
              <a:ext uri="{FF2B5EF4-FFF2-40B4-BE49-F238E27FC236}">
                <a16:creationId xmlns:a16="http://schemas.microsoft.com/office/drawing/2014/main" id="{B7BB3A0F-7B4C-3698-6EE6-2B1159C008C8}"/>
              </a:ext>
            </a:extLst>
          </p:cNvPr>
          <p:cNvSpPr txBox="1"/>
          <p:nvPr/>
        </p:nvSpPr>
        <p:spPr>
          <a:xfrm>
            <a:off x="2032000" y="1145058"/>
            <a:ext cx="8128000" cy="573106"/>
          </a:xfrm>
          <a:prstGeom prst="rect">
            <a:avLst/>
          </a:prstGeom>
          <a:noFill/>
          <a:ln>
            <a:noFill/>
          </a:ln>
        </p:spPr>
        <p:txBody>
          <a:bodyPr spcFirstLastPara="1" wrap="square" lIns="0" tIns="0" rIns="0" bIns="0" anchor="t" anchorCtr="0">
            <a:spAutoFit/>
          </a:bodyPr>
          <a:lstStyle/>
          <a:p>
            <a:pPr marL="0" marR="0" lvl="0" indent="0" algn="ctr" rtl="1">
              <a:lnSpc>
                <a:spcPct val="133333"/>
              </a:lnSpc>
              <a:spcBef>
                <a:spcPts val="0"/>
              </a:spcBef>
              <a:spcAft>
                <a:spcPts val="0"/>
              </a:spcAft>
              <a:buNone/>
            </a:pPr>
            <a:r>
              <a:rPr lang="en-US" sz="2800" b="1" dirty="0">
                <a:solidFill>
                  <a:srgbClr val="1E293B"/>
                </a:solidFill>
                <a:latin typeface="Rubik"/>
                <a:cs typeface="Rubik"/>
                <a:sym typeface="Rubik"/>
              </a:rPr>
              <a:t>baseline classifier - reference benchmark</a:t>
            </a:r>
          </a:p>
        </p:txBody>
      </p:sp>
    </p:spTree>
    <p:extLst>
      <p:ext uri="{BB962C8B-B14F-4D97-AF65-F5344CB8AC3E}">
        <p14:creationId xmlns:p14="http://schemas.microsoft.com/office/powerpoint/2010/main" val="322697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4" name="Google Shape;119;p16">
            <a:hlinkClick r:id="rId2" action="ppaction://hlinksldjump"/>
            <a:extLst>
              <a:ext uri="{FF2B5EF4-FFF2-40B4-BE49-F238E27FC236}">
                <a16:creationId xmlns:a16="http://schemas.microsoft.com/office/drawing/2014/main" id="{1CC8D817-45D1-0E8F-2197-4D0E1610A2A9}"/>
              </a:ext>
            </a:extLst>
          </p:cNvPr>
          <p:cNvSpPr txBox="1"/>
          <p:nvPr/>
        </p:nvSpPr>
        <p:spPr>
          <a:xfrm>
            <a:off x="2259021" y="806229"/>
            <a:ext cx="7673957"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a:solidFill>
                  <a:schemeClr val="bg2"/>
                </a:solidFill>
                <a:latin typeface="Rubik"/>
                <a:ea typeface="Rubik"/>
                <a:cs typeface="Rubik"/>
                <a:sym typeface="Rubik"/>
              </a:rPr>
              <a:t>Comparison and Performance Metrics</a:t>
            </a:r>
            <a:endParaRPr sz="2400" dirty="0">
              <a:solidFill>
                <a:schemeClr val="bg2"/>
              </a:solidFill>
            </a:endParaRPr>
          </a:p>
        </p:txBody>
      </p:sp>
      <p:graphicFrame>
        <p:nvGraphicFramePr>
          <p:cNvPr id="3" name="טבלה 2">
            <a:extLst>
              <a:ext uri="{FF2B5EF4-FFF2-40B4-BE49-F238E27FC236}">
                <a16:creationId xmlns:a16="http://schemas.microsoft.com/office/drawing/2014/main" id="{E0ABADBF-D9CB-DB12-E878-65A5B8009521}"/>
              </a:ext>
            </a:extLst>
          </p:cNvPr>
          <p:cNvGraphicFramePr>
            <a:graphicFrameLocks noGrp="1"/>
          </p:cNvGraphicFramePr>
          <p:nvPr>
            <p:extLst>
              <p:ext uri="{D42A27DB-BD31-4B8C-83A1-F6EECF244321}">
                <p14:modId xmlns:p14="http://schemas.microsoft.com/office/powerpoint/2010/main" val="4109828974"/>
              </p:ext>
            </p:extLst>
          </p:nvPr>
        </p:nvGraphicFramePr>
        <p:xfrm>
          <a:off x="609599" y="2188028"/>
          <a:ext cx="11092542" cy="2721898"/>
        </p:xfrm>
        <a:graphic>
          <a:graphicData uri="http://schemas.openxmlformats.org/drawingml/2006/table">
            <a:tbl>
              <a:tblPr>
                <a:effectLst>
                  <a:outerShdw blurRad="50800" dist="50800" dir="5400000" algn="ctr" rotWithShape="0">
                    <a:srgbClr val="000000">
                      <a:alpha val="42000"/>
                    </a:srgbClr>
                  </a:outerShdw>
                  <a:reflection blurRad="495300" endPos="29000" dir="5400000" sy="-100000" algn="bl" rotWithShape="0"/>
                </a:effectLst>
                <a:tableStyleId>{5C22544A-7EE6-4342-B048-85BDC9FD1C3A}</a:tableStyleId>
              </a:tblPr>
              <a:tblGrid>
                <a:gridCol w="1491344">
                  <a:extLst>
                    <a:ext uri="{9D8B030D-6E8A-4147-A177-3AD203B41FA5}">
                      <a16:colId xmlns:a16="http://schemas.microsoft.com/office/drawing/2014/main" val="1125623168"/>
                    </a:ext>
                  </a:extLst>
                </a:gridCol>
                <a:gridCol w="1023257">
                  <a:extLst>
                    <a:ext uri="{9D8B030D-6E8A-4147-A177-3AD203B41FA5}">
                      <a16:colId xmlns:a16="http://schemas.microsoft.com/office/drawing/2014/main" val="4130567170"/>
                    </a:ext>
                  </a:extLst>
                </a:gridCol>
                <a:gridCol w="838200">
                  <a:extLst>
                    <a:ext uri="{9D8B030D-6E8A-4147-A177-3AD203B41FA5}">
                      <a16:colId xmlns:a16="http://schemas.microsoft.com/office/drawing/2014/main" val="1899278542"/>
                    </a:ext>
                  </a:extLst>
                </a:gridCol>
                <a:gridCol w="576943">
                  <a:extLst>
                    <a:ext uri="{9D8B030D-6E8A-4147-A177-3AD203B41FA5}">
                      <a16:colId xmlns:a16="http://schemas.microsoft.com/office/drawing/2014/main" val="1795157493"/>
                    </a:ext>
                  </a:extLst>
                </a:gridCol>
                <a:gridCol w="1077686">
                  <a:extLst>
                    <a:ext uri="{9D8B030D-6E8A-4147-A177-3AD203B41FA5}">
                      <a16:colId xmlns:a16="http://schemas.microsoft.com/office/drawing/2014/main" val="1567497516"/>
                    </a:ext>
                  </a:extLst>
                </a:gridCol>
                <a:gridCol w="631371">
                  <a:extLst>
                    <a:ext uri="{9D8B030D-6E8A-4147-A177-3AD203B41FA5}">
                      <a16:colId xmlns:a16="http://schemas.microsoft.com/office/drawing/2014/main" val="2608247174"/>
                    </a:ext>
                  </a:extLst>
                </a:gridCol>
                <a:gridCol w="762000">
                  <a:extLst>
                    <a:ext uri="{9D8B030D-6E8A-4147-A177-3AD203B41FA5}">
                      <a16:colId xmlns:a16="http://schemas.microsoft.com/office/drawing/2014/main" val="3535292638"/>
                    </a:ext>
                  </a:extLst>
                </a:gridCol>
                <a:gridCol w="794657">
                  <a:extLst>
                    <a:ext uri="{9D8B030D-6E8A-4147-A177-3AD203B41FA5}">
                      <a16:colId xmlns:a16="http://schemas.microsoft.com/office/drawing/2014/main" val="4211463364"/>
                    </a:ext>
                  </a:extLst>
                </a:gridCol>
                <a:gridCol w="685800">
                  <a:extLst>
                    <a:ext uri="{9D8B030D-6E8A-4147-A177-3AD203B41FA5}">
                      <a16:colId xmlns:a16="http://schemas.microsoft.com/office/drawing/2014/main" val="1483977885"/>
                    </a:ext>
                  </a:extLst>
                </a:gridCol>
                <a:gridCol w="827314">
                  <a:extLst>
                    <a:ext uri="{9D8B030D-6E8A-4147-A177-3AD203B41FA5}">
                      <a16:colId xmlns:a16="http://schemas.microsoft.com/office/drawing/2014/main" val="2230020395"/>
                    </a:ext>
                  </a:extLst>
                </a:gridCol>
                <a:gridCol w="1001486">
                  <a:extLst>
                    <a:ext uri="{9D8B030D-6E8A-4147-A177-3AD203B41FA5}">
                      <a16:colId xmlns:a16="http://schemas.microsoft.com/office/drawing/2014/main" val="660263035"/>
                    </a:ext>
                  </a:extLst>
                </a:gridCol>
                <a:gridCol w="751114">
                  <a:extLst>
                    <a:ext uri="{9D8B030D-6E8A-4147-A177-3AD203B41FA5}">
                      <a16:colId xmlns:a16="http://schemas.microsoft.com/office/drawing/2014/main" val="3015653263"/>
                    </a:ext>
                  </a:extLst>
                </a:gridCol>
                <a:gridCol w="631370">
                  <a:extLst>
                    <a:ext uri="{9D8B030D-6E8A-4147-A177-3AD203B41FA5}">
                      <a16:colId xmlns:a16="http://schemas.microsoft.com/office/drawing/2014/main" val="3484924784"/>
                    </a:ext>
                  </a:extLst>
                </a:gridCol>
              </a:tblGrid>
              <a:tr h="436084">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Model</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err="1">
                          <a:solidFill>
                            <a:schemeClr val="accent1">
                              <a:lumMod val="50000"/>
                            </a:schemeClr>
                          </a:solidFill>
                          <a:effectLst/>
                          <a:latin typeface="Rubik" panose="020B0604020202020204" charset="-79"/>
                          <a:cs typeface="Rubik" panose="020B0604020202020204" charset="-79"/>
                        </a:rPr>
                        <a:t>GMM</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err="1">
                          <a:solidFill>
                            <a:schemeClr val="accent1">
                              <a:lumMod val="50000"/>
                            </a:schemeClr>
                          </a:solidFill>
                          <a:effectLst/>
                          <a:latin typeface="Rubik" panose="020B0604020202020204" charset="-79"/>
                          <a:cs typeface="Rubik" panose="020B0604020202020204" charset="-79"/>
                        </a:rPr>
                        <a:t>GMM_N</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Cov</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Threshold</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C</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Trees</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Depth</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LR</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err="1">
                          <a:solidFill>
                            <a:schemeClr val="accent1">
                              <a:lumMod val="50000"/>
                            </a:schemeClr>
                          </a:solidFill>
                          <a:effectLst/>
                          <a:latin typeface="Rubik" panose="020B0604020202020204" charset="-79"/>
                          <a:cs typeface="Rubik" panose="020B0604020202020204" charset="-79"/>
                        </a:rPr>
                        <a:t>CV_F1</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Accuracy</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a:solidFill>
                            <a:schemeClr val="accent1">
                              <a:lumMod val="50000"/>
                            </a:schemeClr>
                          </a:solidFill>
                          <a:effectLst/>
                          <a:latin typeface="Rubik" panose="020B0604020202020204" charset="-79"/>
                          <a:cs typeface="Rubik" panose="020B0604020202020204" charset="-79"/>
                        </a:rPr>
                        <a:t>Recall</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tc>
                  <a:txBody>
                    <a:bodyPr/>
                    <a:lstStyle/>
                    <a:p>
                      <a:pPr algn="ctr" fontAlgn="b">
                        <a:buNone/>
                      </a:pPr>
                      <a:r>
                        <a:rPr lang="en-IL" sz="1400" b="1" u="none" strike="noStrike" dirty="0" err="1">
                          <a:solidFill>
                            <a:schemeClr val="accent1">
                              <a:lumMod val="50000"/>
                            </a:schemeClr>
                          </a:solidFill>
                          <a:effectLst/>
                          <a:latin typeface="Rubik" panose="020B0604020202020204" charset="-79"/>
                          <a:cs typeface="Rubik" panose="020B0604020202020204" charset="-79"/>
                        </a:rPr>
                        <a:t>F1</a:t>
                      </a:r>
                      <a:endParaRPr lang="en-IL" sz="14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tcPr>
                </a:tc>
                <a:extLst>
                  <a:ext uri="{0D108BD9-81ED-4DB2-BD59-A6C34878D82A}">
                    <a16:rowId xmlns:a16="http://schemas.microsoft.com/office/drawing/2014/main" val="2234958003"/>
                  </a:ext>
                </a:extLst>
              </a:tr>
              <a:tr h="380969">
                <a:tc>
                  <a:txBody>
                    <a:bodyPr/>
                    <a:lstStyle/>
                    <a:p>
                      <a:pPr algn="ctr" fontAlgn="b">
                        <a:buNone/>
                      </a:pPr>
                      <a:r>
                        <a:rPr lang="en-IL" sz="1200" b="1" u="none" strike="noStrike" dirty="0" err="1">
                          <a:solidFill>
                            <a:schemeClr val="accent1">
                              <a:lumMod val="50000"/>
                            </a:schemeClr>
                          </a:solidFill>
                          <a:effectLst/>
                          <a:latin typeface="Rubik" panose="020B0604020202020204" charset="-79"/>
                          <a:cs typeface="Rubik" panose="020B0604020202020204" charset="-79"/>
                        </a:rPr>
                        <a:t>GradientBoosting</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With </a:t>
                      </a:r>
                      <a:r>
                        <a:rPr lang="en-IL" sz="1200" b="1" u="none" strike="noStrike" dirty="0" err="1">
                          <a:solidFill>
                            <a:schemeClr val="accent1">
                              <a:lumMod val="50000"/>
                            </a:schemeClr>
                          </a:solidFill>
                          <a:effectLst/>
                          <a:latin typeface="Rubik" panose="020B0604020202020204" charset="-79"/>
                          <a:cs typeface="Rubik" panose="020B0604020202020204" charset="-79"/>
                        </a:rPr>
                        <a:t>GMM</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7</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full</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0.3</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90</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3</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0.07</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0.566</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0.7779</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0.5899</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1" u="none" strike="noStrike" dirty="0">
                          <a:solidFill>
                            <a:schemeClr val="accent1">
                              <a:lumMod val="50000"/>
                            </a:schemeClr>
                          </a:solidFill>
                          <a:effectLst/>
                          <a:latin typeface="Rubik" panose="020B0604020202020204" charset="-79"/>
                          <a:cs typeface="Rubik" panose="020B0604020202020204" charset="-79"/>
                        </a:rPr>
                        <a:t>0.5492</a:t>
                      </a:r>
                      <a:endParaRPr lang="en-IL" sz="1200" b="1"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2965122742"/>
                  </a:ext>
                </a:extLst>
              </a:tr>
              <a:tr h="380969">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GradientBoosting</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Without </a:t>
                      </a:r>
                      <a:r>
                        <a:rPr lang="en-IL" sz="1200" b="0" u="none" strike="noStrike" dirty="0" err="1">
                          <a:solidFill>
                            <a:schemeClr val="accent1">
                              <a:lumMod val="50000"/>
                            </a:schemeClr>
                          </a:solidFill>
                          <a:effectLst/>
                          <a:latin typeface="Rubik" panose="020B0604020202020204" charset="-79"/>
                          <a:cs typeface="Rubik" panose="020B0604020202020204" charset="-79"/>
                        </a:rPr>
                        <a:t>GMM</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90</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0.07</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0.7685</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0.5647</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0.528</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867999594"/>
                  </a:ext>
                </a:extLst>
              </a:tr>
              <a:tr h="380969">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RandomForest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With GMM</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5</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full</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0.3</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90</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7</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0.5614</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0.7656</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0.5331</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0.5106</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355294372"/>
                  </a:ext>
                </a:extLst>
              </a:tr>
              <a:tr h="380969">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RandomForest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Without GMM</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90</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7</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0.7713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0.5615</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0.5298</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153046688"/>
                  </a:ext>
                </a:extLst>
              </a:tr>
              <a:tr h="380969">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LogisticRegression</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With GMM</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7</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full</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0.01</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0.5513</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0.7489</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0.5457</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0.4993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3893840606"/>
                  </a:ext>
                </a:extLst>
              </a:tr>
              <a:tr h="380969">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LogisticRegression</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Without GMM</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0.3</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0.01</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0.746</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a:solidFill>
                            <a:schemeClr val="accent1">
                              <a:lumMod val="50000"/>
                            </a:schemeClr>
                          </a:solidFill>
                          <a:effectLst/>
                          <a:latin typeface="Rubik" panose="020B0604020202020204" charset="-79"/>
                          <a:cs typeface="Rubik" panose="020B0604020202020204" charset="-79"/>
                        </a:rPr>
                        <a:t>0.5331</a:t>
                      </a:r>
                      <a:endParaRPr lang="en-IL" sz="1200" b="0" i="0" u="none" strike="noStrike">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tc>
                  <a:txBody>
                    <a:bodyPr/>
                    <a:lstStyle/>
                    <a:p>
                      <a:pPr algn="ctr" fontAlgn="b">
                        <a:buNone/>
                      </a:pPr>
                      <a:r>
                        <a:rPr lang="en-IL" sz="1200" b="0" u="none" strike="noStrike" dirty="0">
                          <a:solidFill>
                            <a:schemeClr val="accent1">
                              <a:lumMod val="50000"/>
                            </a:schemeClr>
                          </a:solidFill>
                          <a:effectLst/>
                          <a:latin typeface="Rubik" panose="020B0604020202020204" charset="-79"/>
                          <a:cs typeface="Rubik" panose="020B0604020202020204" charset="-79"/>
                        </a:rPr>
                        <a:t>0.4906</a:t>
                      </a:r>
                      <a:endParaRPr lang="en-IL" sz="1200" b="0" i="0" u="none" strike="noStrike" dirty="0">
                        <a:solidFill>
                          <a:schemeClr val="accent1">
                            <a:lumMod val="50000"/>
                          </a:schemeClr>
                        </a:solidFill>
                        <a:effectLst/>
                        <a:latin typeface="Rubik" panose="020B0604020202020204" charset="-79"/>
                        <a:cs typeface="Rubik" panose="020B0604020202020204" charset="-79"/>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tcPr>
                </a:tc>
                <a:extLst>
                  <a:ext uri="{0D108BD9-81ED-4DB2-BD59-A6C34878D82A}">
                    <a16:rowId xmlns:a16="http://schemas.microsoft.com/office/drawing/2014/main" val="1133906651"/>
                  </a:ext>
                </a:extLst>
              </a:tr>
            </a:tbl>
          </a:graphicData>
        </a:graphic>
      </p:graphicFrame>
      <p:pic>
        <p:nvPicPr>
          <p:cNvPr id="10" name="תמונה 9">
            <a:hlinkClick r:id="rId2" action="ppaction://hlinksldjump"/>
            <a:extLst>
              <a:ext uri="{FF2B5EF4-FFF2-40B4-BE49-F238E27FC236}">
                <a16:creationId xmlns:a16="http://schemas.microsoft.com/office/drawing/2014/main" id="{5A2BA832-A3DF-D602-3889-052AD5529BB5}"/>
              </a:ext>
            </a:extLst>
          </p:cNvPr>
          <p:cNvPicPr>
            <a:picLocks noChangeAspect="1"/>
          </p:cNvPicPr>
          <p:nvPr/>
        </p:nvPicPr>
        <p:blipFill>
          <a:blip r:embed="rId3"/>
          <a:stretch>
            <a:fillRect/>
          </a:stretch>
        </p:blipFill>
        <p:spPr>
          <a:xfrm>
            <a:off x="10857970" y="6018763"/>
            <a:ext cx="493819" cy="469433"/>
          </a:xfrm>
          <a:prstGeom prst="rect">
            <a:avLst/>
          </a:prstGeom>
        </p:spPr>
      </p:pic>
    </p:spTree>
    <p:extLst>
      <p:ext uri="{BB962C8B-B14F-4D97-AF65-F5344CB8AC3E}">
        <p14:creationId xmlns:p14="http://schemas.microsoft.com/office/powerpoint/2010/main" val="3773916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A3727DBF-ECA5-9C31-00AA-33C469187C46}"/>
              </a:ext>
            </a:extLst>
          </p:cNvPr>
          <p:cNvPicPr>
            <a:picLocks noChangeAspect="1"/>
          </p:cNvPicPr>
          <p:nvPr/>
        </p:nvPicPr>
        <p:blipFill>
          <a:blip r:embed="rId2"/>
          <a:stretch>
            <a:fillRect/>
          </a:stretch>
        </p:blipFill>
        <p:spPr>
          <a:xfrm>
            <a:off x="87109" y="1630524"/>
            <a:ext cx="12017781" cy="3596952"/>
          </a:xfrm>
          <a:prstGeom prst="rect">
            <a:avLst/>
          </a:prstGeom>
        </p:spPr>
      </p:pic>
      <p:pic>
        <p:nvPicPr>
          <p:cNvPr id="5" name="תמונה 4">
            <a:hlinkClick r:id="rId3" action="ppaction://hlinksldjump"/>
            <a:extLst>
              <a:ext uri="{FF2B5EF4-FFF2-40B4-BE49-F238E27FC236}">
                <a16:creationId xmlns:a16="http://schemas.microsoft.com/office/drawing/2014/main" id="{AEE97C63-898D-3032-F356-CDED71D91DC4}"/>
              </a:ext>
            </a:extLst>
          </p:cNvPr>
          <p:cNvPicPr>
            <a:picLocks noChangeAspect="1"/>
          </p:cNvPicPr>
          <p:nvPr/>
        </p:nvPicPr>
        <p:blipFill>
          <a:blip r:embed="rId4"/>
          <a:stretch>
            <a:fillRect/>
          </a:stretch>
        </p:blipFill>
        <p:spPr>
          <a:xfrm>
            <a:off x="10857970" y="6018763"/>
            <a:ext cx="493819" cy="469433"/>
          </a:xfrm>
          <a:prstGeom prst="rect">
            <a:avLst/>
          </a:prstGeom>
        </p:spPr>
      </p:pic>
      <p:sp>
        <p:nvSpPr>
          <p:cNvPr id="7" name="תיבת טקסט 6">
            <a:extLst>
              <a:ext uri="{FF2B5EF4-FFF2-40B4-BE49-F238E27FC236}">
                <a16:creationId xmlns:a16="http://schemas.microsoft.com/office/drawing/2014/main" id="{3019195D-E01F-62CF-1BF9-4235DA86FEF0}"/>
              </a:ext>
            </a:extLst>
          </p:cNvPr>
          <p:cNvSpPr txBox="1"/>
          <p:nvPr/>
        </p:nvSpPr>
        <p:spPr>
          <a:xfrm>
            <a:off x="1950719" y="654571"/>
            <a:ext cx="8290560" cy="369332"/>
          </a:xfrm>
          <a:prstGeom prst="rect">
            <a:avLst/>
          </a:prstGeom>
          <a:noFill/>
        </p:spPr>
        <p:txBody>
          <a:bodyPr wrap="square">
            <a:spAutoFit/>
          </a:bodyPr>
          <a:lstStyle/>
          <a:p>
            <a:pPr marL="0" marR="0" lvl="0" indent="0" algn="ctr" rtl="1">
              <a:spcBef>
                <a:spcPts val="0"/>
              </a:spcBef>
              <a:spcAft>
                <a:spcPts val="0"/>
              </a:spcAft>
              <a:buNone/>
            </a:pPr>
            <a:r>
              <a:rPr lang="en-US" sz="1800" b="1" dirty="0">
                <a:solidFill>
                  <a:srgbClr val="0070C0"/>
                </a:solidFill>
                <a:latin typeface="Rubik"/>
                <a:ea typeface="Rubik"/>
                <a:cs typeface="Rubik"/>
                <a:sym typeface="Rubik"/>
              </a:rPr>
              <a:t>Final Model Evaluation: Confusion Matrix, ROC, and PR Curves</a:t>
            </a:r>
            <a:endParaRPr lang="en-US" sz="1400" dirty="0">
              <a:solidFill>
                <a:srgbClr val="0070C0"/>
              </a:solidFill>
            </a:endParaRPr>
          </a:p>
        </p:txBody>
      </p:sp>
    </p:spTree>
    <p:extLst>
      <p:ext uri="{BB962C8B-B14F-4D97-AF65-F5344CB8AC3E}">
        <p14:creationId xmlns:p14="http://schemas.microsoft.com/office/powerpoint/2010/main" val="2237443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3849F75B-050A-D326-124F-B2163493BC3E}"/>
            </a:ext>
          </a:extLst>
        </p:cNvPr>
        <p:cNvGrpSpPr/>
        <p:nvPr/>
      </p:nvGrpSpPr>
      <p:grpSpPr>
        <a:xfrm>
          <a:off x="0" y="0"/>
          <a:ext cx="0" cy="0"/>
          <a:chOff x="0" y="0"/>
          <a:chExt cx="0" cy="0"/>
        </a:xfrm>
      </p:grpSpPr>
      <p:sp>
        <p:nvSpPr>
          <p:cNvPr id="5" name="Google Shape;119;p16">
            <a:hlinkClick r:id="rId2" action="ppaction://hlinksldjump"/>
            <a:extLst>
              <a:ext uri="{FF2B5EF4-FFF2-40B4-BE49-F238E27FC236}">
                <a16:creationId xmlns:a16="http://schemas.microsoft.com/office/drawing/2014/main" id="{760FEA11-B26C-6131-3134-D395BBBF4394}"/>
              </a:ext>
            </a:extLst>
          </p:cNvPr>
          <p:cNvSpPr txBox="1"/>
          <p:nvPr/>
        </p:nvSpPr>
        <p:spPr>
          <a:xfrm>
            <a:off x="2259021" y="237269"/>
            <a:ext cx="7673957"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a:solidFill>
                  <a:schemeClr val="accent5">
                    <a:lumMod val="60000"/>
                    <a:lumOff val="40000"/>
                  </a:schemeClr>
                </a:solidFill>
                <a:latin typeface="Rubik"/>
                <a:ea typeface="Rubik"/>
                <a:cs typeface="Rubik"/>
                <a:sym typeface="Rubik"/>
              </a:rPr>
              <a:t>Hyperparameter Sensitivity Analysis of the Selected Model</a:t>
            </a:r>
            <a:endParaRPr sz="2400" dirty="0">
              <a:solidFill>
                <a:schemeClr val="accent5">
                  <a:lumMod val="60000"/>
                  <a:lumOff val="40000"/>
                </a:schemeClr>
              </a:solidFill>
            </a:endParaRPr>
          </a:p>
        </p:txBody>
      </p:sp>
      <p:pic>
        <p:nvPicPr>
          <p:cNvPr id="4" name="תמונה 3">
            <a:extLst>
              <a:ext uri="{FF2B5EF4-FFF2-40B4-BE49-F238E27FC236}">
                <a16:creationId xmlns:a16="http://schemas.microsoft.com/office/drawing/2014/main" id="{1ACEF3FE-D8EC-D304-B742-38C23A09BA45}"/>
              </a:ext>
            </a:extLst>
          </p:cNvPr>
          <p:cNvPicPr>
            <a:picLocks noChangeAspect="1"/>
          </p:cNvPicPr>
          <p:nvPr/>
        </p:nvPicPr>
        <p:blipFill>
          <a:blip r:embed="rId3"/>
          <a:stretch>
            <a:fillRect/>
          </a:stretch>
        </p:blipFill>
        <p:spPr>
          <a:xfrm>
            <a:off x="2007000" y="1655491"/>
            <a:ext cx="3117387" cy="2154509"/>
          </a:xfrm>
          <a:prstGeom prst="rect">
            <a:avLst/>
          </a:prstGeom>
        </p:spPr>
      </p:pic>
      <p:pic>
        <p:nvPicPr>
          <p:cNvPr id="8" name="תמונה 7">
            <a:extLst>
              <a:ext uri="{FF2B5EF4-FFF2-40B4-BE49-F238E27FC236}">
                <a16:creationId xmlns:a16="http://schemas.microsoft.com/office/drawing/2014/main" id="{EA0F58AD-8450-B017-953B-1F12BDD41B79}"/>
              </a:ext>
            </a:extLst>
          </p:cNvPr>
          <p:cNvPicPr>
            <a:picLocks noChangeAspect="1"/>
          </p:cNvPicPr>
          <p:nvPr/>
        </p:nvPicPr>
        <p:blipFill>
          <a:blip r:embed="rId4"/>
          <a:stretch>
            <a:fillRect/>
          </a:stretch>
        </p:blipFill>
        <p:spPr>
          <a:xfrm>
            <a:off x="2007000" y="4466222"/>
            <a:ext cx="2997113" cy="2154509"/>
          </a:xfrm>
          <a:prstGeom prst="rect">
            <a:avLst/>
          </a:prstGeom>
        </p:spPr>
      </p:pic>
      <p:pic>
        <p:nvPicPr>
          <p:cNvPr id="10" name="תמונה 9">
            <a:extLst>
              <a:ext uri="{FF2B5EF4-FFF2-40B4-BE49-F238E27FC236}">
                <a16:creationId xmlns:a16="http://schemas.microsoft.com/office/drawing/2014/main" id="{7C909B5D-079B-816E-B690-A0C250A2DA1D}"/>
              </a:ext>
            </a:extLst>
          </p:cNvPr>
          <p:cNvPicPr>
            <a:picLocks noChangeAspect="1"/>
          </p:cNvPicPr>
          <p:nvPr/>
        </p:nvPicPr>
        <p:blipFill>
          <a:blip r:embed="rId5"/>
          <a:stretch>
            <a:fillRect/>
          </a:stretch>
        </p:blipFill>
        <p:spPr>
          <a:xfrm>
            <a:off x="6673746" y="1654465"/>
            <a:ext cx="2928056" cy="2154509"/>
          </a:xfrm>
          <a:prstGeom prst="rect">
            <a:avLst/>
          </a:prstGeom>
        </p:spPr>
      </p:pic>
      <p:pic>
        <p:nvPicPr>
          <p:cNvPr id="12" name="תמונה 11">
            <a:extLst>
              <a:ext uri="{FF2B5EF4-FFF2-40B4-BE49-F238E27FC236}">
                <a16:creationId xmlns:a16="http://schemas.microsoft.com/office/drawing/2014/main" id="{304A7E25-2D70-D15E-F166-47122C4D8E46}"/>
              </a:ext>
            </a:extLst>
          </p:cNvPr>
          <p:cNvPicPr>
            <a:picLocks noChangeAspect="1"/>
          </p:cNvPicPr>
          <p:nvPr/>
        </p:nvPicPr>
        <p:blipFill>
          <a:blip r:embed="rId6"/>
          <a:stretch>
            <a:fillRect/>
          </a:stretch>
        </p:blipFill>
        <p:spPr>
          <a:xfrm>
            <a:off x="6673746" y="4531469"/>
            <a:ext cx="2928055" cy="2089262"/>
          </a:xfrm>
          <a:prstGeom prst="rect">
            <a:avLst/>
          </a:prstGeom>
        </p:spPr>
      </p:pic>
      <p:sp>
        <p:nvSpPr>
          <p:cNvPr id="14" name="תיבת טקסט 13">
            <a:hlinkClick r:id="" action="ppaction://noaction"/>
            <a:extLst>
              <a:ext uri="{FF2B5EF4-FFF2-40B4-BE49-F238E27FC236}">
                <a16:creationId xmlns:a16="http://schemas.microsoft.com/office/drawing/2014/main" id="{E153B2F0-88F8-54A3-2F21-10EF853A8FBE}"/>
              </a:ext>
            </a:extLst>
          </p:cNvPr>
          <p:cNvSpPr txBox="1"/>
          <p:nvPr/>
        </p:nvSpPr>
        <p:spPr>
          <a:xfrm>
            <a:off x="2065138" y="1347714"/>
            <a:ext cx="3114158" cy="307777"/>
          </a:xfrm>
          <a:prstGeom prst="rect">
            <a:avLst/>
          </a:prstGeom>
          <a:noFill/>
        </p:spPr>
        <p:txBody>
          <a:bodyPr wrap="square" rtlCol="0">
            <a:spAutoFit/>
          </a:bodyPr>
          <a:lstStyle/>
          <a:p>
            <a:r>
              <a:rPr lang="en-IL" b="1" dirty="0" err="1"/>
              <a:t>n_estimators</a:t>
            </a:r>
            <a:r>
              <a:rPr lang="en-IL" b="1" dirty="0"/>
              <a:t> Sensitivity Analysis</a:t>
            </a:r>
            <a:endParaRPr lang="en-IL" dirty="0">
              <a:latin typeface="Rubik" panose="020B0604020202020204" charset="-79"/>
              <a:cs typeface="Rubik" panose="020B0604020202020204" charset="-79"/>
            </a:endParaRPr>
          </a:p>
        </p:txBody>
      </p:sp>
      <p:sp>
        <p:nvSpPr>
          <p:cNvPr id="18" name="תיבת טקסט 17">
            <a:extLst>
              <a:ext uri="{FF2B5EF4-FFF2-40B4-BE49-F238E27FC236}">
                <a16:creationId xmlns:a16="http://schemas.microsoft.com/office/drawing/2014/main" id="{863FD575-D6D7-6D39-04DB-119A5B750813}"/>
              </a:ext>
            </a:extLst>
          </p:cNvPr>
          <p:cNvSpPr txBox="1"/>
          <p:nvPr/>
        </p:nvSpPr>
        <p:spPr>
          <a:xfrm>
            <a:off x="2065138" y="4230692"/>
            <a:ext cx="3114158" cy="307777"/>
          </a:xfrm>
          <a:prstGeom prst="rect">
            <a:avLst/>
          </a:prstGeom>
          <a:noFill/>
        </p:spPr>
        <p:txBody>
          <a:bodyPr wrap="square">
            <a:spAutoFit/>
          </a:bodyPr>
          <a:lstStyle/>
          <a:p>
            <a:r>
              <a:rPr lang="en-IL" b="1" i="0" dirty="0">
                <a:solidFill>
                  <a:schemeClr val="bg2"/>
                </a:solidFill>
                <a:effectLst/>
                <a:latin typeface="+mj-lt"/>
              </a:rPr>
              <a:t>Learning Rate Sensitivity Analysis</a:t>
            </a:r>
            <a:endParaRPr lang="en-IL" dirty="0">
              <a:solidFill>
                <a:schemeClr val="bg2"/>
              </a:solidFill>
              <a:latin typeface="+mj-lt"/>
            </a:endParaRPr>
          </a:p>
        </p:txBody>
      </p:sp>
      <p:sp>
        <p:nvSpPr>
          <p:cNvPr id="20" name="תיבת טקסט 19">
            <a:hlinkClick r:id="" action="ppaction://noaction"/>
            <a:extLst>
              <a:ext uri="{FF2B5EF4-FFF2-40B4-BE49-F238E27FC236}">
                <a16:creationId xmlns:a16="http://schemas.microsoft.com/office/drawing/2014/main" id="{C3CE0ECD-7632-5474-0A51-5CA283E38E45}"/>
              </a:ext>
            </a:extLst>
          </p:cNvPr>
          <p:cNvSpPr txBox="1"/>
          <p:nvPr/>
        </p:nvSpPr>
        <p:spPr>
          <a:xfrm>
            <a:off x="6892508" y="1347714"/>
            <a:ext cx="2490532" cy="307777"/>
          </a:xfrm>
          <a:prstGeom prst="rect">
            <a:avLst/>
          </a:prstGeom>
          <a:noFill/>
        </p:spPr>
        <p:txBody>
          <a:bodyPr wrap="square" rtlCol="0">
            <a:spAutoFit/>
          </a:bodyPr>
          <a:lstStyle/>
          <a:p>
            <a:r>
              <a:rPr lang="en-IL" b="1" dirty="0"/>
              <a:t>Max</a:t>
            </a:r>
            <a:r>
              <a:rPr lang="he-IL" b="1" dirty="0"/>
              <a:t> </a:t>
            </a:r>
            <a:r>
              <a:rPr lang="en-IL" b="1" dirty="0"/>
              <a:t>Tree Depth</a:t>
            </a:r>
            <a:r>
              <a:rPr lang="he-IL" b="1" dirty="0"/>
              <a:t> </a:t>
            </a:r>
            <a:r>
              <a:rPr lang="en-IL" b="1" dirty="0"/>
              <a:t>Sensitivity</a:t>
            </a:r>
            <a:endParaRPr lang="en-IL" dirty="0">
              <a:latin typeface="Rubik" panose="020B0604020202020204" charset="-79"/>
              <a:cs typeface="Rubik" panose="020B0604020202020204" charset="-79"/>
            </a:endParaRPr>
          </a:p>
        </p:txBody>
      </p:sp>
      <p:sp>
        <p:nvSpPr>
          <p:cNvPr id="22" name="תיבת טקסט 21">
            <a:extLst>
              <a:ext uri="{FF2B5EF4-FFF2-40B4-BE49-F238E27FC236}">
                <a16:creationId xmlns:a16="http://schemas.microsoft.com/office/drawing/2014/main" id="{C8002C92-2346-7990-C8D2-3FF0024279C7}"/>
              </a:ext>
            </a:extLst>
          </p:cNvPr>
          <p:cNvSpPr txBox="1"/>
          <p:nvPr/>
        </p:nvSpPr>
        <p:spPr>
          <a:xfrm>
            <a:off x="6518764" y="4223692"/>
            <a:ext cx="3238017" cy="307777"/>
          </a:xfrm>
          <a:prstGeom prst="rect">
            <a:avLst/>
          </a:prstGeom>
          <a:noFill/>
        </p:spPr>
        <p:txBody>
          <a:bodyPr wrap="square">
            <a:spAutoFit/>
          </a:bodyPr>
          <a:lstStyle/>
          <a:p>
            <a:r>
              <a:rPr lang="en-IL" b="1" i="0" dirty="0">
                <a:solidFill>
                  <a:schemeClr val="bg2"/>
                </a:solidFill>
                <a:effectLst/>
                <a:latin typeface="+mn-lt"/>
              </a:rPr>
              <a:t>Classification Threshold Sensitivity</a:t>
            </a:r>
            <a:endParaRPr lang="en-IL" dirty="0">
              <a:solidFill>
                <a:schemeClr val="bg2"/>
              </a:solidFill>
              <a:latin typeface="+mn-lt"/>
            </a:endParaRPr>
          </a:p>
        </p:txBody>
      </p:sp>
      <p:pic>
        <p:nvPicPr>
          <p:cNvPr id="25" name="תמונה 24">
            <a:hlinkClick r:id="rId2" action="ppaction://hlinksldjump"/>
            <a:extLst>
              <a:ext uri="{FF2B5EF4-FFF2-40B4-BE49-F238E27FC236}">
                <a16:creationId xmlns:a16="http://schemas.microsoft.com/office/drawing/2014/main" id="{5F648565-C410-C70C-E814-9D62942164A8}"/>
              </a:ext>
            </a:extLst>
          </p:cNvPr>
          <p:cNvPicPr>
            <a:picLocks noChangeAspect="1"/>
          </p:cNvPicPr>
          <p:nvPr/>
        </p:nvPicPr>
        <p:blipFill>
          <a:blip r:embed="rId7"/>
          <a:stretch>
            <a:fillRect/>
          </a:stretch>
        </p:blipFill>
        <p:spPr>
          <a:xfrm>
            <a:off x="10857970" y="6018763"/>
            <a:ext cx="493819" cy="469433"/>
          </a:xfrm>
          <a:prstGeom prst="rect">
            <a:avLst/>
          </a:prstGeom>
        </p:spPr>
      </p:pic>
    </p:spTree>
    <p:extLst>
      <p:ext uri="{BB962C8B-B14F-4D97-AF65-F5344CB8AC3E}">
        <p14:creationId xmlns:p14="http://schemas.microsoft.com/office/powerpoint/2010/main" val="10028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8A9BDA4A-DFFE-9748-DB9B-A3C7446C5C97}"/>
            </a:ext>
          </a:extLst>
        </p:cNvPr>
        <p:cNvGrpSpPr/>
        <p:nvPr/>
      </p:nvGrpSpPr>
      <p:grpSpPr>
        <a:xfrm>
          <a:off x="0" y="0"/>
          <a:ext cx="0" cy="0"/>
          <a:chOff x="0" y="0"/>
          <a:chExt cx="0" cy="0"/>
        </a:xfrm>
      </p:grpSpPr>
      <p:pic>
        <p:nvPicPr>
          <p:cNvPr id="3" name="תמונה 2">
            <a:hlinkClick r:id="rId2" action="ppaction://hlinksldjump"/>
            <a:extLst>
              <a:ext uri="{FF2B5EF4-FFF2-40B4-BE49-F238E27FC236}">
                <a16:creationId xmlns:a16="http://schemas.microsoft.com/office/drawing/2014/main" id="{352912B8-D9D4-D4C6-953F-4933B3F47A39}"/>
              </a:ext>
            </a:extLst>
          </p:cNvPr>
          <p:cNvPicPr>
            <a:picLocks noChangeAspect="1"/>
          </p:cNvPicPr>
          <p:nvPr/>
        </p:nvPicPr>
        <p:blipFill>
          <a:blip r:embed="rId3"/>
          <a:stretch>
            <a:fillRect/>
          </a:stretch>
        </p:blipFill>
        <p:spPr>
          <a:xfrm>
            <a:off x="321564" y="2550160"/>
            <a:ext cx="5449320" cy="2710038"/>
          </a:xfrm>
          <a:prstGeom prst="rect">
            <a:avLst/>
          </a:prstGeom>
        </p:spPr>
      </p:pic>
      <p:sp>
        <p:nvSpPr>
          <p:cNvPr id="5" name="Google Shape;119;p16">
            <a:hlinkClick r:id="rId2" action="ppaction://hlinksldjump"/>
            <a:extLst>
              <a:ext uri="{FF2B5EF4-FFF2-40B4-BE49-F238E27FC236}">
                <a16:creationId xmlns:a16="http://schemas.microsoft.com/office/drawing/2014/main" id="{27AC2F3D-A315-8D04-50E8-062E1CE62A62}"/>
              </a:ext>
            </a:extLst>
          </p:cNvPr>
          <p:cNvSpPr txBox="1"/>
          <p:nvPr/>
        </p:nvSpPr>
        <p:spPr>
          <a:xfrm>
            <a:off x="2259020" y="826549"/>
            <a:ext cx="7673957"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a:solidFill>
                  <a:schemeClr val="accent5">
                    <a:lumMod val="60000"/>
                    <a:lumOff val="40000"/>
                  </a:schemeClr>
                </a:solidFill>
                <a:latin typeface="Rubik"/>
                <a:ea typeface="Rubik"/>
                <a:cs typeface="Rubik"/>
                <a:sym typeface="Rubik"/>
              </a:rPr>
              <a:t>Top 5 </a:t>
            </a:r>
            <a:r>
              <a:rPr lang="en-US" sz="2400" b="1" dirty="0" err="1">
                <a:solidFill>
                  <a:schemeClr val="accent5">
                    <a:lumMod val="60000"/>
                    <a:lumOff val="40000"/>
                  </a:schemeClr>
                </a:solidFill>
                <a:latin typeface="Rubik"/>
                <a:ea typeface="Rubik"/>
                <a:cs typeface="Rubik"/>
                <a:sym typeface="Rubik"/>
              </a:rPr>
              <a:t>SHAP</a:t>
            </a:r>
            <a:r>
              <a:rPr lang="en-US" sz="2400" b="1" dirty="0">
                <a:solidFill>
                  <a:schemeClr val="accent5">
                    <a:lumMod val="60000"/>
                    <a:lumOff val="40000"/>
                  </a:schemeClr>
                </a:solidFill>
                <a:latin typeface="Rubik"/>
                <a:ea typeface="Rubik"/>
                <a:cs typeface="Rubik"/>
                <a:sym typeface="Rubik"/>
              </a:rPr>
              <a:t> Feature Impact Analysis</a:t>
            </a:r>
            <a:endParaRPr sz="2400" dirty="0">
              <a:solidFill>
                <a:schemeClr val="accent5">
                  <a:lumMod val="60000"/>
                  <a:lumOff val="40000"/>
                </a:schemeClr>
              </a:solidFill>
            </a:endParaRPr>
          </a:p>
        </p:txBody>
      </p:sp>
      <p:pic>
        <p:nvPicPr>
          <p:cNvPr id="7" name="תמונה 6">
            <a:hlinkClick r:id="rId2" action="ppaction://hlinksldjump"/>
            <a:extLst>
              <a:ext uri="{FF2B5EF4-FFF2-40B4-BE49-F238E27FC236}">
                <a16:creationId xmlns:a16="http://schemas.microsoft.com/office/drawing/2014/main" id="{5B690272-EE51-BABF-D2B7-FDEED432DC0B}"/>
              </a:ext>
            </a:extLst>
          </p:cNvPr>
          <p:cNvPicPr>
            <a:picLocks noChangeAspect="1"/>
          </p:cNvPicPr>
          <p:nvPr/>
        </p:nvPicPr>
        <p:blipFill>
          <a:blip r:embed="rId4"/>
          <a:stretch>
            <a:fillRect/>
          </a:stretch>
        </p:blipFill>
        <p:spPr>
          <a:xfrm>
            <a:off x="6217917" y="2550160"/>
            <a:ext cx="5818912" cy="2710038"/>
          </a:xfrm>
          <a:prstGeom prst="rect">
            <a:avLst/>
          </a:prstGeom>
        </p:spPr>
      </p:pic>
      <p:pic>
        <p:nvPicPr>
          <p:cNvPr id="9" name="תמונה 8">
            <a:hlinkClick r:id="rId2" action="ppaction://hlinksldjump"/>
            <a:extLst>
              <a:ext uri="{FF2B5EF4-FFF2-40B4-BE49-F238E27FC236}">
                <a16:creationId xmlns:a16="http://schemas.microsoft.com/office/drawing/2014/main" id="{277453EB-5D43-191F-37E1-1385CD3358A1}"/>
              </a:ext>
            </a:extLst>
          </p:cNvPr>
          <p:cNvPicPr>
            <a:picLocks noChangeAspect="1"/>
          </p:cNvPicPr>
          <p:nvPr/>
        </p:nvPicPr>
        <p:blipFill>
          <a:blip r:embed="rId5"/>
          <a:stretch>
            <a:fillRect/>
          </a:stretch>
        </p:blipFill>
        <p:spPr>
          <a:xfrm>
            <a:off x="10857970" y="6018763"/>
            <a:ext cx="493819" cy="469433"/>
          </a:xfrm>
          <a:prstGeom prst="rect">
            <a:avLst/>
          </a:prstGeom>
        </p:spPr>
      </p:pic>
    </p:spTree>
    <p:extLst>
      <p:ext uri="{BB962C8B-B14F-4D97-AF65-F5344CB8AC3E}">
        <p14:creationId xmlns:p14="http://schemas.microsoft.com/office/powerpoint/2010/main" val="282959359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2116</TotalTime>
  <Words>1419</Words>
  <Application>Microsoft Office PowerPoint</Application>
  <PresentationFormat>מסך רחב</PresentationFormat>
  <Paragraphs>214</Paragraphs>
  <Slides>15</Slides>
  <Notes>8</Notes>
  <HiddenSlides>0</HiddenSlides>
  <MMClips>0</MMClips>
  <ScaleCrop>false</ScaleCrop>
  <HeadingPairs>
    <vt:vector size="8" baseType="variant">
      <vt:variant>
        <vt:lpstr>גופנים בשימוש</vt:lpstr>
      </vt:variant>
      <vt:variant>
        <vt:i4>7</vt:i4>
      </vt:variant>
      <vt:variant>
        <vt:lpstr>ערכת נושא</vt:lpstr>
      </vt:variant>
      <vt:variant>
        <vt:i4>1</vt:i4>
      </vt:variant>
      <vt:variant>
        <vt:lpstr>שרתי OLE מוטבעים</vt:lpstr>
      </vt:variant>
      <vt:variant>
        <vt:i4>1</vt:i4>
      </vt:variant>
      <vt:variant>
        <vt:lpstr>כותרות שקופיות</vt:lpstr>
      </vt:variant>
      <vt:variant>
        <vt:i4>15</vt:i4>
      </vt:variant>
    </vt:vector>
  </HeadingPairs>
  <TitlesOfParts>
    <vt:vector size="24" baseType="lpstr">
      <vt:lpstr>Rubik SemiBold</vt:lpstr>
      <vt:lpstr>Arial</vt:lpstr>
      <vt:lpstr>Calibri</vt:lpstr>
      <vt:lpstr>Raleway</vt:lpstr>
      <vt:lpstr>Fira Code</vt:lpstr>
      <vt:lpstr>Lato</vt:lpstr>
      <vt:lpstr>Rubik</vt:lpstr>
      <vt:lpstr>Streamline</vt:lpstr>
      <vt:lpstr>אובייקט מעטפת של כורך האובייקטים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דניאל סלירוסס</cp:lastModifiedBy>
  <cp:revision>14</cp:revision>
  <dcterms:modified xsi:type="dcterms:W3CDTF">2026-07-25T20:20:55Z</dcterms:modified>
</cp:coreProperties>
</file>